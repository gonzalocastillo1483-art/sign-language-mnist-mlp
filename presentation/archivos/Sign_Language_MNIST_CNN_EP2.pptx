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00551cdf8d4ca9" /><Relationship Type="http://schemas.openxmlformats.org/officeDocument/2006/relationships/extended-properties" Target="/docProps/app.xml" Id="Rd018a9392ee24d1e" /><Relationship Type="http://schemas.openxmlformats.org/officeDocument/2006/relationships/officeDocument" Target="/ppt/presentation.xml" Id="R036d53902fae43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3212fcb5234b07"/>
  </p:sldMasterIdLst>
  <p:notesMasterIdLst>
    <p:notesMasterId xmlns:r="http://schemas.openxmlformats.org/officeDocument/2006/relationships" r:id="R0c1f444a096945dd"/>
  </p:notesMasterIdLst>
  <p:sldIdLst>
    <p:sldId xmlns:r="http://schemas.openxmlformats.org/officeDocument/2006/relationships" id="256" r:id="R9670410e5d2a46fc"/>
    <p:sldId xmlns:r="http://schemas.openxmlformats.org/officeDocument/2006/relationships" id="257" r:id="Rede07bc9507941ae"/>
    <p:sldId xmlns:r="http://schemas.openxmlformats.org/officeDocument/2006/relationships" id="258" r:id="R128369c727e248b4"/>
    <p:sldId xmlns:r="http://schemas.openxmlformats.org/officeDocument/2006/relationships" id="259" r:id="R5a53b5e2e1d64a34"/>
    <p:sldId xmlns:r="http://schemas.openxmlformats.org/officeDocument/2006/relationships" id="260" r:id="R6701eaf135614e3d"/>
    <p:sldId xmlns:r="http://schemas.openxmlformats.org/officeDocument/2006/relationships" id="261" r:id="Rf48bb5fba0a64d2a"/>
    <p:sldId xmlns:r="http://schemas.openxmlformats.org/officeDocument/2006/relationships" id="262" r:id="Raf69628eeb114d96"/>
    <p:sldId xmlns:r="http://schemas.openxmlformats.org/officeDocument/2006/relationships" id="263" r:id="Rf9e4216c9eab4f94"/>
    <p:sldId xmlns:r="http://schemas.openxmlformats.org/officeDocument/2006/relationships" id="264" r:id="R49b97e5b4a5e4ea0"/>
    <p:sldId xmlns:r="http://schemas.openxmlformats.org/officeDocument/2006/relationships" id="265" r:id="R5d366409ac2443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29c34c1c524c47" /><Relationship Type="http://schemas.openxmlformats.org/officeDocument/2006/relationships/slideMaster" Target="/ppt/slideMasters/slideMaster1.xml" Id="Red3212fcb5234b07" /><Relationship Type="http://schemas.openxmlformats.org/officeDocument/2006/relationships/notesMaster" Target="/ppt/notesMasters/notesMaster1.xml" Id="R0c1f444a096945dd" /><Relationship Type="http://schemas.openxmlformats.org/officeDocument/2006/relationships/presProps" Target="/ppt/presProps.xml" Id="Rc8dfa89b3bf24b15" /><Relationship Type="http://schemas.openxmlformats.org/officeDocument/2006/relationships/tableStyles" Target="/ppt/tableStyles.xml" Id="Rbfdacc57340a4e95" /><Relationship Type="http://schemas.openxmlformats.org/officeDocument/2006/relationships/slide" Target="/ppt/slides/slide1.xml" Id="R9670410e5d2a46fc" /><Relationship Type="http://schemas.openxmlformats.org/officeDocument/2006/relationships/slide" Target="/ppt/slides/slide2.xml" Id="Rede07bc9507941ae" /><Relationship Type="http://schemas.openxmlformats.org/officeDocument/2006/relationships/slide" Target="/ppt/slides/slide3.xml" Id="R128369c727e248b4" /><Relationship Type="http://schemas.openxmlformats.org/officeDocument/2006/relationships/slide" Target="/ppt/slides/slide4.xml" Id="R5a53b5e2e1d64a34" /><Relationship Type="http://schemas.openxmlformats.org/officeDocument/2006/relationships/slide" Target="/ppt/slides/slide5.xml" Id="R6701eaf135614e3d" /><Relationship Type="http://schemas.openxmlformats.org/officeDocument/2006/relationships/slide" Target="/ppt/slides/slide6.xml" Id="Rf48bb5fba0a64d2a" /><Relationship Type="http://schemas.openxmlformats.org/officeDocument/2006/relationships/slide" Target="/ppt/slides/slide7.xml" Id="Raf69628eeb114d96" /><Relationship Type="http://schemas.openxmlformats.org/officeDocument/2006/relationships/slide" Target="/ppt/slides/slide8.xml" Id="Rf9e4216c9eab4f94" /><Relationship Type="http://schemas.openxmlformats.org/officeDocument/2006/relationships/slide" Target="/ppt/slides/slide9.xml" Id="R49b97e5b4a5e4ea0" /><Relationship Type="http://schemas.openxmlformats.org/officeDocument/2006/relationships/slide" Target="/ppt/slides/slide10.xml" Id="R5d366409ac2443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ddd117360e41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15349a871c4171" /><Relationship Type="http://schemas.openxmlformats.org/officeDocument/2006/relationships/notesMaster" Target="/ppt/notesMasters/notesMaster1.xml" Id="R82a03922364046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8c913a63034dc2" /><Relationship Type="http://schemas.openxmlformats.org/officeDocument/2006/relationships/notesMaster" Target="/ppt/notesMasters/notesMaster1.xml" Id="R85f7be5f8a894a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6c36744d76474f" /><Relationship Type="http://schemas.openxmlformats.org/officeDocument/2006/relationships/notesMaster" Target="/ppt/notesMasters/notesMaster1.xml" Id="R6856624f1b1041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bb13e867eb45e6" /><Relationship Type="http://schemas.openxmlformats.org/officeDocument/2006/relationships/notesMaster" Target="/ppt/notesMasters/notesMaster1.xml" Id="R3b7498459ed645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f959e66aa8485d" /><Relationship Type="http://schemas.openxmlformats.org/officeDocument/2006/relationships/notesMaster" Target="/ppt/notesMasters/notesMaster1.xml" Id="R972750fb474440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2c52d19e3146cd" /><Relationship Type="http://schemas.openxmlformats.org/officeDocument/2006/relationships/notesMaster" Target="/ppt/notesMasters/notesMaster1.xml" Id="Rb697da6f1d7948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d7e79dbfce44c3" /><Relationship Type="http://schemas.openxmlformats.org/officeDocument/2006/relationships/notesMaster" Target="/ppt/notesMasters/notesMaster1.xml" Id="Rbedf395fc85742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3885f6f49742b7" /><Relationship Type="http://schemas.openxmlformats.org/officeDocument/2006/relationships/notesMaster" Target="/ppt/notesMasters/notesMaster1.xml" Id="R5f8b03cf80224a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79fcfe55824510" /><Relationship Type="http://schemas.openxmlformats.org/officeDocument/2006/relationships/notesMaster" Target="/ppt/notesMasters/notesMaster1.xml" Id="R7f8a26869d5c4f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eb170713fb4ab6" /><Relationship Type="http://schemas.openxmlformats.org/officeDocument/2006/relationships/notesMaster" Target="/ppt/notesMasters/notesMaster1.xml" Id="R4cca2f34a9e349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Gonzalo. 30 segundos.</a:t>
            </a:r>
          </a:p>
          <a:p xmlns:a="http://schemas.openxmlformats.org/drawingml/2006/main">
            <a:r>
              <a:t>En la EP1 construimos un MLP para clasificar 24 letras estáticas del alfabeto ASL. En esta evaluación mantenemos el mismo problema, dataset y particiones, pero reemplazamos el MLP por una CNN para comparar objetivamente qué aporta una arquitectura diseñada para imágenes.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images/gonzalo_sample_grid.png e INFORME_TECNICO_EP2.md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Gonzalo. 55 segundos.</a:t>
            </a:r>
          </a:p>
          <a:p xmlns:a="http://schemas.openxmlformats.org/drawingml/2006/main">
            <a:r>
              <a:t>El dataset contiene imágenes de 28 por 28 píxeles en escala de grises. Hay 27.455 imágenes en el archivo de entrenamiento y 7.172 en el test oficial. Trabajamos con 24 clases. J y Z no aparecen porque sus señas requieren movimiento y el dataset es estático. El gráfico muestra cantidades parecidas entre clases, aunque no exactamente iguales.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data/raw/sign_mnist_train.csv, data/raw/sign_mnist_test.csv e images/gonzalo_class_distribution.png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Gonzalo. 75 segundos.</a:t>
            </a:r>
          </a:p>
          <a:p xmlns:a="http://schemas.openxmlformats.org/drawingml/2006/main">
            <a:r>
              <a:t>Cada fila del CSV tiene 784 valores porque 28 por 28 es 784. Para la CNN reconstruimos la imagen como un tensor de 28 por 28 por 1: alto, ancho y un canal de gris. Dividimos los píxeles por 255 porque es la intensidad máxima de 8 bits y así el rango queda entre 0 y 1. Conservamos 21.964 imágenes para entrenar, 5.491 para validar y 7.172 para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src/sign_mlp/data.py y reports/gonzalo_preprocessing_summary.md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Jenaro. 65 segundos.</a:t>
            </a:r>
          </a:p>
          <a:p xmlns:a="http://schemas.openxmlformats.org/drawingml/2006/main">
            <a:r>
              <a:t>La red tiene tres bloques convolucionales con 32, 64 y 128 filtros de 3 por 3. Las convoluciones buscan patrones locales y ReLU agrega no linealidad. Max pooling reduce la representación. Al final, una capa Dense de 128 neuronas integra las características y softmax produce 24 probabilidades.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src/sign_mlp/cnn.py y reports/cnn_model_summary.txt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Jenaro. 60 segundos.</a:t>
            </a:r>
          </a:p>
          <a:p xmlns:a="http://schemas.openxmlformats.org/drawingml/2006/main">
            <a:r>
              <a:t>Entrenamos con Adam, learning rate 0,001, batch de 128 y hasta 20 épocas. Sparse categorical crossentropy es adecuada porque las etiquetas son enteros y hay una sola clase correcta entre 24. Dropout reduce la dependencia entre neuronas. EarlyStopping restaura los mejores pesos y ReduceLROnPlateau baja el learning rate si la validación se estanca.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src/sign_mlp/cnn.py, reports/cnn_history.csv e images/cnn_training_curves.png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Jenaro. 60 segundos.</a:t>
            </a:r>
          </a:p>
          <a:p xmlns:a="http://schemas.openxmlformats.org/drawingml/2006/main">
            <a:r>
              <a:t>Los mapas de características muestran que las primeras capas reaccionan a bordes y siluetas. Las capas profundas retienen patrones más abstractos. Grad-CAM marca las zonas que más influyeron en una predicción. En estos ejemplos la atención cae principalmente sobre la mano, pero el mapa es aproximado y no demuestra causalidad.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images/cnn_feature_maps.png e images/cnn_gradcam_examples.png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60 segundos.</a:t>
            </a:r>
          </a:p>
          <a:p xmlns:a="http://schemas.openxmlformats.org/drawingml/2006/main">
            <a:r>
              <a:t>En el test oficial, la CNN alcanzó 96,60% de accuracy, 0,9604 de precision macro, 0,9616 de recall macro y 0,9595 de F1 macro. Reportamos F1 macro porque calcula el resultado por clase y les da el mismo peso, evitando que una clase con más ejemplos domine la evaluación. La diagonal fuerte de la matriz muestra que la mayoría de las predicciones son correctas.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reports/cnn_metrics.json e images/cnn_confusion_matrix.png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75 segundos.</a:t>
            </a:r>
          </a:p>
          <a:p xmlns:a="http://schemas.openxmlformats.org/drawingml/2006/main">
            <a:r>
              <a:t>El MLP obtuvo 79,71% de accuracy de test y la CNN 96,60%, una mejora de 16,89 puntos porcentuales. El F1 macro subió de 0,7760 a 0,9595. La CNN usa 243.352 parámetros frente a 569.240 del MLP, 57,25% menos. Su costo es aproximadamente 10 segundos adicionales de entrenamiento. La brecha validación-test baja de 20,29 a 3,40 puntos, por lo que generaliza mucho mejor.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reports/mlp_cnn_comparison.csv y reports/cnn_metrics.json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60 segundos.</a:t>
            </a:r>
          </a:p>
          <a:p xmlns:a="http://schemas.openxmlformats.org/drawingml/2006/main">
            <a:r>
              <a:t>Los errores más frecuentes son T con X, G con Q y X con T. T es la clase con menor F1, seguida por X y R. Estas señas comparten formas o posiciones de dedos parecidas, por lo que pequeñas diferencias visuales pueden cambiar la clase. Los ejemplos permiten revisar casos concretos, no solo un promedio.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reports/cnn_classification_report.txt, reports/cnn_metrics.json e images/cnn_incorrect_examples.png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50 segundos.</a:t>
            </a:r>
          </a:p>
          <a:p xmlns:a="http://schemas.openxmlformats.org/drawingml/2006/main">
            <a:r>
              <a:t>Concluimos que la CNN es más adecuada porque conserva la estructura espacial, comparte filtros y aprende patrones locales. Mejoró fuertemente el rendimiento y la generalización usando menos parámetros, aunque tardó algo más en entrenar. La principal limitación es que solo reconoce letras estáticas. Como siguiente paso proponemos data augmentation, Batch Normalization y evaluación con imágenes externas.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INFORME_TECNICO_EP2.md y reports/cnn_metrics.json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05030379514eb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fbafc1624a43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7f4b41d21443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6121f6ee094c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4431090fe45a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de3a3f1cf41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78A9A3-216D-4DC5-9735-58919DCA5B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DDF89A7-6EE8-48B3-A87A-314FE40E63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AE677FD-FB89-437F-91BC-34050F8AA6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53F017-67EC-4CF8-A38D-E0B0069604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7263A96-728A-40E1-AC9E-7CDC30DF9D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410FED4-2EA0-437D-BB27-696ADDE813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A3B37D4-8F22-49D4-B451-C74497DAAA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13EE09-7309-4707-9CE9-36AED2A984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EFC26C-A09C-436E-A98B-0C2C395B04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7DDA654-48FE-4083-8526-F005CE66BD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bc30fc3e9b4e89" /><Relationship Type="http://schemas.openxmlformats.org/officeDocument/2006/relationships/slideLayout" Target="/ppt/slideLayouts/slideLayout1.xml" Id="R7f5a637352a448ed" /><Relationship Type="http://schemas.openxmlformats.org/officeDocument/2006/relationships/slideLayout" Target="/ppt/slideLayouts/slideLayout2.xml" Id="R3a0d3a4e3563455d" /><Relationship Type="http://schemas.openxmlformats.org/officeDocument/2006/relationships/slideLayout" Target="/ppt/slideLayouts/slideLayout3.xml" Id="R4a4cd6181eb24ad8" /><Relationship Type="http://schemas.openxmlformats.org/officeDocument/2006/relationships/slideLayout" Target="/ppt/slideLayouts/slideLayout4.xml" Id="R85b60c9300864122" /><Relationship Type="http://schemas.openxmlformats.org/officeDocument/2006/relationships/slideLayout" Target="/ppt/slideLayouts/slideLayout5.xml" Id="Re83385c970cf401f" /><Relationship Type="http://schemas.openxmlformats.org/officeDocument/2006/relationships/slideLayout" Target="/ppt/slideLayouts/slideLayout6.xml" Id="R05bf6172a45340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5a637352a448ed"/>
    <p:sldLayoutId xmlns:r="http://schemas.openxmlformats.org/officeDocument/2006/relationships" id="2147483650" r:id="R3a0d3a4e3563455d"/>
    <p:sldLayoutId xmlns:r="http://schemas.openxmlformats.org/officeDocument/2006/relationships" id="2147483651" r:id="R4a4cd6181eb24ad8"/>
    <p:sldLayoutId xmlns:r="http://schemas.openxmlformats.org/officeDocument/2006/relationships" id="2147483652" r:id="R85b60c9300864122"/>
    <p:sldLayoutId xmlns:r="http://schemas.openxmlformats.org/officeDocument/2006/relationships" id="2147483653" r:id="Re83385c970cf401f"/>
    <p:sldLayoutId xmlns:r="http://schemas.openxmlformats.org/officeDocument/2006/relationships" id="2147483654" r:id="R05bf6172a45340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12f2c4ac874fc7" /><Relationship Type="http://schemas.openxmlformats.org/officeDocument/2006/relationships/image" Target="/ppt/media/image.png" Id="Rc1cc6e0dce034a6f" /><Relationship Type="http://schemas.openxmlformats.org/officeDocument/2006/relationships/notesSlide" Target="/ppt/notesSlides/notesSlide1.xml" Id="Raf8b5d208f474b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c6e3a7f26e4ccb" /><Relationship Type="http://schemas.openxmlformats.org/officeDocument/2006/relationships/image" Target="/ppt/media/image2.png" Id="Ra346b68f3a8744db" /><Relationship Type="http://schemas.openxmlformats.org/officeDocument/2006/relationships/notesSlide" Target="/ppt/notesSlides/notesSlide2.xml" Id="R696284925e044c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4a5ba51d4f4fb8" /><Relationship Type="http://schemas.openxmlformats.org/officeDocument/2006/relationships/notesSlide" Target="/ppt/notesSlides/notesSlide3.xml" Id="R88a8a07ba8e247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4c81b4cf7c4d13" /><Relationship Type="http://schemas.openxmlformats.org/officeDocument/2006/relationships/notesSlide" Target="/ppt/notesSlides/notesSlide4.xml" Id="R61e3c79773594b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2ddd0b79f340ab" /><Relationship Type="http://schemas.openxmlformats.org/officeDocument/2006/relationships/image" Target="/ppt/media/image3.png" Id="R3752db355202429e" /><Relationship Type="http://schemas.openxmlformats.org/officeDocument/2006/relationships/notesSlide" Target="/ppt/notesSlides/notesSlide5.xml" Id="R46ac297a454e4f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d4ff6d00c849fc" /><Relationship Type="http://schemas.openxmlformats.org/officeDocument/2006/relationships/image" Target="/ppt/media/image4.png" Id="R7fe5d918bf8140e9" /><Relationship Type="http://schemas.openxmlformats.org/officeDocument/2006/relationships/image" Target="/ppt/media/image5.png" Id="Rc09b776ac5924a44" /><Relationship Type="http://schemas.openxmlformats.org/officeDocument/2006/relationships/notesSlide" Target="/ppt/notesSlides/notesSlide6.xml" Id="Rfd74ab510fd247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b05635ef174497" /><Relationship Type="http://schemas.openxmlformats.org/officeDocument/2006/relationships/image" Target="/ppt/media/image6.png" Id="R6e0fc1ba68954c7b" /><Relationship Type="http://schemas.openxmlformats.org/officeDocument/2006/relationships/notesSlide" Target="/ppt/notesSlides/notesSlide7.xml" Id="Re3a79b48f90349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fac23d49b34a5c" /><Relationship Type="http://schemas.openxmlformats.org/officeDocument/2006/relationships/chart" Target="/ppt/slides/charts/chart1.xml" Id="R67dcf4dde7404f19" /><Relationship Type="http://schemas.openxmlformats.org/officeDocument/2006/relationships/notesSlide" Target="/ppt/notesSlides/notesSlide8.xml" Id="R73dbc83907f347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363d918f4d4264" /><Relationship Type="http://schemas.openxmlformats.org/officeDocument/2006/relationships/image" Target="/ppt/media/image7.png" Id="R8b3510db196a414e" /><Relationship Type="http://schemas.openxmlformats.org/officeDocument/2006/relationships/notesSlide" Target="/ppt/notesSlides/notesSlide9.xml" Id="R8f4b6e12d5de49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decc1cf0e14ac5" /><Relationship Type="http://schemas.openxmlformats.org/officeDocument/2006/relationships/notesSlide" Target="/ppt/notesSlides/notesSlide10.xml" Id="R9c7123e09db14b3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 test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MLP EP1</c:v>
                </c:pt>
                <c:pt idx="1">
                  <c:v>CNN EP2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79.71</c:v>
                </c:pt>
                <c:pt idx="1">
                  <c:v>96.6</c:v>
                </c:pt>
              </c:numCache>
            </c:numRef>
          </c:val>
        </c:ser>
        <c:ser>
          <c:idx val="1"/>
          <c:order val="1"/>
          <c:tx>
            <c:v>F1 macro test</c:v>
          </c:tx>
          <c:spPr>
            <a:solidFill xmlns:a="http://schemas.openxmlformats.org/drawingml/2006/main">
              <a:srgbClr val="17324D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MLP EP1</c:v>
                </c:pt>
                <c:pt idx="1">
                  <c:v>CNN EP2</c:v>
                </c:pt>
              </c:strCache>
            </c:strRef>
          </c:cat>
          <c:val>
            <c:numRef>
              <c:f>'Chart Data'!$D$2:$D$3</c:f>
              <c:numCache>
                <c:formatCode>0"%"</c:formatCode>
                <c:ptCount val="2"/>
                <c:pt idx="0">
                  <c:v>77.6</c:v>
                </c:pt>
                <c:pt idx="1">
                  <c:v>95.95</c:v>
                </c:pt>
              </c:numCache>
            </c:numRef>
          </c:val>
        </c:ser>
        <c:dLbls>
          <c:numFmt formatCode="0.0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324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9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E5C68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16077-B93A-4770-8113-AB127085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552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Sign Language</a:t>
            </a:r>
          </a:p>
          <a:p xmlns:a="http://schemas.openxmlformats.org/drawingml/2006/main">
            <a: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E6A63-FC99-46C6-8823-E7492428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087F8C"/>
                </a:solidFill>
                <a:latin typeface="Arial"/>
                <a:ea typeface="Arial"/>
                <a:cs typeface="Arial"/>
              </a:rPr>
              <a:t>Clasificación con CNN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3174A-0F3D-4AE3-89B2-FB1DD271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Continuidad y comparación con el MLP de la EP1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1BB30-DE53-46DD-AAE1-99603673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619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Gonzalo Castillo · Jenaro Marin · Jason Aguilera</a:t>
            </a:r>
          </a:p>
          <a:p xmlns:a="http://schemas.openxmlformats.org/drawingml/2006/main">
            <a: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TLY1102 · Evaluación Parcial 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D26FC3-AABC-43B8-8214-7D8EFE632A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c6e0dce034a6f"/>
          <a:stretch xmlns:a="http://schemas.openxmlformats.org/drawingml/2006/main"/>
        </p:blipFill>
        <p:spPr>
          <a:xfrm xmlns:a="http://schemas.openxmlformats.org/drawingml/2006/main">
            <a:off x="6762750" y="1480785"/>
            <a:ext cx="4810125" cy="356305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8123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9BCBA-2C6D-42DA-9A74-10431DED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Mismo dataset, misma variante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183B0-3DF8-40FD-A8EB-91DA3388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D648D-F141-4C7E-AAFE-7D57175A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85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28 × 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4C2E3-7ECA-4E25-8327-017C1431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píxeles en gris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59E5C-8A05-4801-A34B-1A88425F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285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27.455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C1C52-B479-4266-802F-25A4BD17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43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entrenamiento oficial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F5955-CCBB-43C8-BD31-7D7DB31E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285875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7.172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646BAE-9179-4C9A-92DA-E3CFE30A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9431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test oficial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7F318-D06F-4434-BB26-288481DE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285875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EFE435-7966-4A83-9C00-E753544A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9431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clases A-I y K-Y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EEFA72-8864-4AB3-8091-CA3B7EC35F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6b68f3a8744db"/>
          <a:stretch xmlns:a="http://schemas.openxmlformats.org/drawingml/2006/main"/>
        </p:blipFill>
        <p:spPr>
          <a:xfrm xmlns:a="http://schemas.openxmlformats.org/drawingml/2006/main">
            <a:off x="1842977" y="2714625"/>
            <a:ext cx="8506047" cy="3048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1E58D-1F7A-44A4-9D35-B1E99612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J y Z no están incluidas porque requieren movimiento.</a:t>
            </a:r>
          </a:p>
        </p:txBody>
      </p:sp>
    </p:spTree>
    <p:extLst>
      <p:ext uri="{BB962C8B-B14F-4D97-AF65-F5344CB8AC3E}">
        <p14:creationId xmlns:p14="http://schemas.microsoft.com/office/powerpoint/2010/main" val="2717903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BFCDBC-8D05-478D-A21F-73419271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Preparación específica para la CNN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91297C-B946-464C-9274-58CAEA4E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71DC3-1C11-486D-AA0E-1E126496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095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8051A-7A04-404D-AEA2-5BDF4CCD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47825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CSV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97F4C-61C3-4C0D-BD23-71A34CD7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1866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label + 784 píxeles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B5F34-CD7F-424A-872C-F0ECF93D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71675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AE238-C847-4994-97A1-DAF0A1D2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71625"/>
            <a:ext cx="2095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60614-883A-45C2-8B57-129695B5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647825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Normalizar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E77E78-0CFD-4D1D-A1EA-712D927F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19300"/>
            <a:ext cx="1866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píxel / 255</a:t>
            </a:r>
          </a:p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0-255 → 0-1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95E80-3294-4383-BCE2-E77347FD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1971675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B1BF39-EDBB-45E4-98C8-F6FF7983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2286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B1DAE9-45F4-4929-98B6-054FA5E2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47825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Reconstruir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2ACDC-57E1-471F-A3F8-DCAD8512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19300"/>
            <a:ext cx="2057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tensor 28 × 28 ×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AF45AE-E727-4CDB-AB53-C826F383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71675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84AB46-DB79-40D3-9302-36CF5813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71625"/>
            <a:ext cx="2095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F8292-4E79-4433-9CD6-824F443D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1647825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Entrar a CNN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9703B1-777B-4D1C-B961-C1047CDC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019300"/>
            <a:ext cx="1866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conservar vecindad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E28BE1-6F1A-40B4-BB79-E12AB31B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Particiones estratificadas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6801B-35D8-4D22-98D0-3328A358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21.964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7A9A64-BDC1-43FE-97A8-D6622030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entrenamiento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77FBD1-42C5-4F2B-A019-6FBB12C5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52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5.491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665696-7024-4EA8-933D-C9AD7E77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10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validación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E753A8-C844-4D2E-9BC5-455646A1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52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7.172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4D2217-0BA9-45B5-A4D9-64F7D8A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0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test oficial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9F2403-8FA8-454F-A3EC-6ACB756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El test permanece separado hasta la evaluación final.</a:t>
            </a:r>
          </a:p>
        </p:txBody>
      </p:sp>
    </p:spTree>
    <p:extLst>
      <p:ext uri="{BB962C8B-B14F-4D97-AF65-F5344CB8AC3E}">
        <p14:creationId xmlns:p14="http://schemas.microsoft.com/office/powerpoint/2010/main" val="11088101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E1257D-FC8D-43BA-9020-02B8829F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Arquitectura: aprender patrones espaciales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10F37-2126-4797-B9A3-C32803AB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DC143-5929-41C8-A860-A58FF30D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714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018C3-B72D-4BEF-A6A8-BAFF939E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6DAA3-231B-4F8D-B165-4C95DB0A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48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28×28×1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B9C07-B4A8-49EF-B3BD-63C62382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2EC64-EB55-454A-9B71-088F87D6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66875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8EDB7-5212-4CEC-8D30-9DEBBDBF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430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62A76-6EDB-4AC0-A42F-26B58D67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114550"/>
            <a:ext cx="1581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32 filtros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2F6D2-3484-4930-A2CE-AB21589B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EC6FD-24E4-426F-B5CB-287B252C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666875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32985E-D75D-4AA9-8905-5F8367D0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430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D69A63-C226-481C-A47E-7B2EE9A3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1581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64 filtros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B54250-6784-46EC-8109-141532A2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30B6E-5E70-45FE-B74E-86294401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666875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1DEBB-9ABE-4B3C-B6A3-2D3BBFA9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430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F17926-3623-4D1E-9318-33D888FE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14550"/>
            <a:ext cx="1581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128 filtros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4A2DEA-E7F1-4189-B733-DCC36BE4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18C74D-8092-4C81-A2BE-21C08BEC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66875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EEF4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1E3C94-8DB6-46FF-AC94-46E8174C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43075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Clasificador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6AAA8-7ADC-494E-B83A-9F14CA7A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14550"/>
            <a:ext cx="2152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Dense 128 → 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AF7565-79FE-4510-AD3A-2188AA3D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71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× 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E42742-04F6-4103-AFED-0EE3E145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71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×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3EC078-9857-4F41-A6B5-C1039964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71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×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96C447-6B16-41E8-8355-9D8FDDEB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Convolución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27CBE5-F835-47A5-9C05-F66A51DD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Detecta bordes, contornos y combinaciones locales usando filtros compartidos.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80EDAD-A815-4D0C-AD32-05554507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857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Pooling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DB74CB-35DE-48B2-B066-8C0DF5AC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295775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Reduce el tamaño espacial y conserva las activaciones más importantes.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914081-5DDF-42D6-9630-B6872A7B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57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Softmax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92C4BB-F058-4828-895B-CE3AC74D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2957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Entrega 24 probabilidades que suman 1; elegimos la mayor.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110F4C-5779-4D3C-B0D4-912E29BE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Total: 243.352 parámetros entrenables</a:t>
            </a:r>
          </a:p>
        </p:txBody>
      </p:sp>
    </p:spTree>
    <p:extLst>
      <p:ext uri="{BB962C8B-B14F-4D97-AF65-F5344CB8AC3E}">
        <p14:creationId xmlns:p14="http://schemas.microsoft.com/office/powerpoint/2010/main" val="21119486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CFCC7C-238D-493B-AEAC-FC36F8E2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Entrenamiento y control del sobreajuste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F38BB-E060-415F-86D1-409C9DC9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04BCE-5B4E-4B68-93F5-BB3A5C06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Configuración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3C8C9-6B58-4F21-980E-6D2B7584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Optimizador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559FA-0D52-4028-9584-48255377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04787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Adam · 0,001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DC814B-D4D2-4438-A45B-02573CB7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Pérdida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178C8A-F1B1-49F9-A63D-C5C8A91C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0032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Sparse categorical crossentropy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4399F1-AF0D-45AD-B972-045BD287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5BE9F-9E8E-4288-9E3B-CE1CE2C9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15277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128 imágenes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64CEE-2956-4B6D-A1FA-E9BEAE15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Presupuesto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9552D-E960-4C2C-AFE0-5BAA79B3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70522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hasta 20 épocas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D59DE2-70D7-4D84-98C0-DD1FB3C9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Semilla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B59C7B-3717-439B-9182-5EB1E43E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5767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1415D1-A7CD-4D65-BDF6-B3173122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Dropout 0,25 / 0,40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0A3544-2663-4EE9-8CA4-D415249F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EarlyStopping + ReduceLROnPlateau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76F14E-AA98-4128-A466-B0F1AD3755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52db355202429e"/>
          <a:stretch xmlns:a="http://schemas.openxmlformats.org/drawingml/2006/main"/>
        </p:blipFill>
        <p:spPr>
          <a:xfrm xmlns:a="http://schemas.openxmlformats.org/drawingml/2006/main">
            <a:off x="5572125" y="2605627"/>
            <a:ext cx="5905500" cy="1932497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7111CC-D697-42EE-970D-70C3E5B3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8293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20 épocas · 41,41 s · 100% accuracy de validación</a:t>
            </a:r>
          </a:p>
        </p:txBody>
      </p:sp>
    </p:spTree>
    <p:extLst>
      <p:ext uri="{BB962C8B-B14F-4D97-AF65-F5344CB8AC3E}">
        <p14:creationId xmlns:p14="http://schemas.microsoft.com/office/powerpoint/2010/main" val="20397651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DCD4B-735E-401E-B735-A3CC041F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Qué aprende la CNN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C1228-9B67-4F91-80B9-1CB48DAA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C1C94B-6385-4BEE-956B-4086A44A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Mapas de características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6BF0F-B81C-4068-9667-93A3256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2763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Grad-CAM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41FC0-4EFB-496D-8EC0-8D3032BF34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5d918bf8140e9"/>
          <a:stretch xmlns:a="http://schemas.openxmlformats.org/drawingml/2006/main"/>
        </p:blipFill>
        <p:spPr>
          <a:xfrm xmlns:a="http://schemas.openxmlformats.org/drawingml/2006/main">
            <a:off x="514350" y="2458218"/>
            <a:ext cx="5524500" cy="2265413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888EA-6696-421E-9D72-F42CB2A618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b776ac5924a44"/>
          <a:stretch xmlns:a="http://schemas.openxmlformats.org/drawingml/2006/main"/>
        </p:blipFill>
        <p:spPr>
          <a:xfrm xmlns:a="http://schemas.openxmlformats.org/drawingml/2006/main">
            <a:off x="8328376" y="1733550"/>
            <a:ext cx="1231198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52634-EE6D-4F84-9E7E-6AD103E1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5191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Capas iniciales: bordes y siluetas. Capas profundas: patrones más abstractos.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6C5813-3C5B-4EBF-8068-579C9116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5626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El calor se concentra principalmente en la mano; es una explicación aproximada.</a:t>
            </a:r>
          </a:p>
        </p:txBody>
      </p:sp>
    </p:spTree>
    <p:extLst>
      <p:ext uri="{BB962C8B-B14F-4D97-AF65-F5344CB8AC3E}">
        <p14:creationId xmlns:p14="http://schemas.microsoft.com/office/powerpoint/2010/main" val="11343353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6E3843-03EB-4860-A96D-8524814A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Evaluación final sobre 7.172 imágenes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F2521-E400-4B78-A31A-8FDF00E5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6FB5B7-37E2-48FC-A759-92562942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96,60%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8EAB8-0785-4B1F-B0D1-48EB143A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Accuracy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2BD14-FF8F-455C-8AD3-BBA17120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0,9604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28739A-18DB-4FEF-8254-0AB870F0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Precision macro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FFA34-A384-4F92-8ACE-D6087E01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0,9616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754C1-D363-4136-B471-B4B8B69C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Recall macro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683B2F-4AAF-4800-BC55-8D5E103F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0,9595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4E516-40F1-480A-B82A-3D736D58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F1 macro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0E90D5-0C77-489E-ACF8-39AACC3D02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fc1ba68954c7b"/>
          <a:stretch xmlns:a="http://schemas.openxmlformats.org/drawingml/2006/main"/>
        </p:blipFill>
        <p:spPr>
          <a:xfrm xmlns:a="http://schemas.openxmlformats.org/drawingml/2006/main">
            <a:off x="4486284" y="1190625"/>
            <a:ext cx="6172181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507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97F806-AC5E-418A-9C96-CE421AE8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CNN versus MLP: misma tarea, mejor generalización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9E237-BD8A-41FC-B1D0-60F19A58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EAD755E1-3086-4399-8D8C-C79C7D89890A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6715125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dcf4dde7404f1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D6976-A769-4372-A432-87BA92C4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7637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+16,89 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3A654C-9724-4FEC-A12C-754F4236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33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accuracy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984A5-6BB8-4969-AFF4-29362C7A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575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−57,25%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CF373-A08E-4A7A-84F2-4D84B3CE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147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parámetros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0990E-A3C6-4B75-8407-0B199DB0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3862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3,40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FE011-8574-4640-9E7D-3B027C90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958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brecha validación-test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72DD03-EB0C-43BA-9BD0-BBED421C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6388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Tiempo: CNN 41,41 s · MLP 31,50 s</a:t>
            </a:r>
          </a:p>
        </p:txBody>
      </p:sp>
    </p:spTree>
    <p:extLst>
      <p:ext uri="{BB962C8B-B14F-4D97-AF65-F5344CB8AC3E}">
        <p14:creationId xmlns:p14="http://schemas.microsoft.com/office/powerpoint/2010/main" val="16412636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59CD64-E5BF-442E-9EE6-BEC04C39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Dónde se equivoca la CNN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8AD64-25B6-42E5-893C-47F7B093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0F3204-49E5-407D-9AF1-DC6CE34DE3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3510db196a414e"/>
          <a:stretch xmlns:a="http://schemas.openxmlformats.org/drawingml/2006/main"/>
        </p:blipFill>
        <p:spPr>
          <a:xfrm xmlns:a="http://schemas.openxmlformats.org/drawingml/2006/main">
            <a:off x="1831628" y="1285875"/>
            <a:ext cx="4328218" cy="4476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41831-D362-4120-9DF6-BA801BB7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7637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Confusiones frecuentes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C2F8E-3A33-4032-9089-FE7914C8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764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 → X: 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3F0B5-06A4-48A0-87F8-B4038D8E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5527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G → Q: 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6CFCF-07EE-46D2-A1DB-F0938FD0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289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X → T: 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47A0B-0730-43A5-A298-A85ADFA3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5052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 → E: 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CF5912-697E-47BE-93E2-4C4E80BF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814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 → L: 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D8270-D4B2-46D1-B661-82642E87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19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Menor F1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72781-E6DC-447A-A7C7-366059D0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4825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T 0,7745 · X 0,8586 · R 0,8723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A1CFAC-73E3-4C29-B6FF-71845EB8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Las formas y posiciones de dedos similares explican parte de la dificultad.</a:t>
            </a:r>
          </a:p>
        </p:txBody>
      </p:sp>
    </p:spTree>
    <p:extLst>
      <p:ext uri="{BB962C8B-B14F-4D97-AF65-F5344CB8AC3E}">
        <p14:creationId xmlns:p14="http://schemas.microsoft.com/office/powerpoint/2010/main" val="19910777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59DE6-82ED-49D2-AEF2-C899176B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Conclusión: la estructura espacial sí importa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33C862-3547-4DD9-88F4-6B5417AF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02E4C-6178-47F7-9A4C-44B59D4D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96,60%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D1A74-5F40-41E3-B9E1-D82E1270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accuracy de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782B82-3E95-479B-9331-B5DB102C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87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Mejor generalización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56CB8-EC9D-4634-8A2D-CD932BE7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La brecha validación-test cae de 20,29 a 3,40 puntos porcentuales.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55D05F-6299-4E46-83B3-190B09C6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Menos parámetros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30E6D8-7A0F-4E6E-9D75-FB4A0254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337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La CNN usa 243.352 parámetros: 57,25% menos que el MLP.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8923C5-79AA-49F2-97B5-554D622C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862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Próximo experimento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6DEC3-2D77-4DD7-9C77-E06A60D2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62500"/>
            <a:ext cx="619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Data augmentation, Batch Normalization y validación con imágenes externas.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E223F6-5634-4F53-A746-E9E5CB22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Limitación: reconoce letras estáticas; no J, Z ni secuencias de video.</a:t>
            </a:r>
          </a:p>
        </p:txBody>
      </p:sp>
    </p:spTree>
    <p:extLst>
      <p:ext uri="{BB962C8B-B14F-4D97-AF65-F5344CB8AC3E}">
        <p14:creationId xmlns:p14="http://schemas.microsoft.com/office/powerpoint/2010/main" val="787090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2026-10-18T00:20:51.4880000Z</dcterms:created>
  <dcterms:modified xsi:type="dcterms:W3CDTF">2026-10-18T00:20:51.4880000Z</dcterms:modified>
</coreProperties>
</file>