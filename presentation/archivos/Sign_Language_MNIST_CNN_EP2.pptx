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1aa10d67e84508" /><Relationship Type="http://schemas.openxmlformats.org/officeDocument/2006/relationships/extended-properties" Target="/docProps/app.xml" Id="Rc409742a5fa74ce1" /><Relationship Type="http://schemas.openxmlformats.org/officeDocument/2006/relationships/officeDocument" Target="/ppt/presentation.xml" Id="Rb2d5cb85a1d640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f2d2f8c02e4060"/>
  </p:sldMasterIdLst>
  <p:notesMasterIdLst>
    <p:notesMasterId xmlns:r="http://schemas.openxmlformats.org/officeDocument/2006/relationships" r:id="R151a1f1e11324ef3"/>
  </p:notesMasterIdLst>
  <p:sldIdLst>
    <p:sldId xmlns:r="http://schemas.openxmlformats.org/officeDocument/2006/relationships" id="256" r:id="Re9ba9e694de74744"/>
    <p:sldId xmlns:r="http://schemas.openxmlformats.org/officeDocument/2006/relationships" id="257" r:id="R4fd5e250d2db4cd9"/>
    <p:sldId xmlns:r="http://schemas.openxmlformats.org/officeDocument/2006/relationships" id="258" r:id="Rcc7677dbf9064f12"/>
    <p:sldId xmlns:r="http://schemas.openxmlformats.org/officeDocument/2006/relationships" id="259" r:id="Rb73464f90ebf47a6"/>
    <p:sldId xmlns:r="http://schemas.openxmlformats.org/officeDocument/2006/relationships" id="260" r:id="Rcf2ebd3a25ee4299"/>
    <p:sldId xmlns:r="http://schemas.openxmlformats.org/officeDocument/2006/relationships" id="261" r:id="R923aef2d41e24268"/>
    <p:sldId xmlns:r="http://schemas.openxmlformats.org/officeDocument/2006/relationships" id="262" r:id="R77a73ff73d244967"/>
    <p:sldId xmlns:r="http://schemas.openxmlformats.org/officeDocument/2006/relationships" id="263" r:id="R5bf540af11604e0b"/>
    <p:sldId xmlns:r="http://schemas.openxmlformats.org/officeDocument/2006/relationships" id="264" r:id="Rc9d87da2f7bc4409"/>
    <p:sldId xmlns:r="http://schemas.openxmlformats.org/officeDocument/2006/relationships" id="265" r:id="R1c31e984d5ba439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88f209b89f4237" /><Relationship Type="http://schemas.openxmlformats.org/officeDocument/2006/relationships/slideMaster" Target="/ppt/slideMasters/slideMaster1.xml" Id="R64f2d2f8c02e4060" /><Relationship Type="http://schemas.openxmlformats.org/officeDocument/2006/relationships/notesMaster" Target="/ppt/notesMasters/notesMaster1.xml" Id="R151a1f1e11324ef3" /><Relationship Type="http://schemas.openxmlformats.org/officeDocument/2006/relationships/presProps" Target="/ppt/presProps.xml" Id="Re199f92f052f455b" /><Relationship Type="http://schemas.openxmlformats.org/officeDocument/2006/relationships/tableStyles" Target="/ppt/tableStyles.xml" Id="R51b4c5d361124e14" /><Relationship Type="http://schemas.openxmlformats.org/officeDocument/2006/relationships/slide" Target="/ppt/slides/slide1.xml" Id="Re9ba9e694de74744" /><Relationship Type="http://schemas.openxmlformats.org/officeDocument/2006/relationships/slide" Target="/ppt/slides/slide2.xml" Id="R4fd5e250d2db4cd9" /><Relationship Type="http://schemas.openxmlformats.org/officeDocument/2006/relationships/slide" Target="/ppt/slides/slide3.xml" Id="Rcc7677dbf9064f12" /><Relationship Type="http://schemas.openxmlformats.org/officeDocument/2006/relationships/slide" Target="/ppt/slides/slide4.xml" Id="Rb73464f90ebf47a6" /><Relationship Type="http://schemas.openxmlformats.org/officeDocument/2006/relationships/slide" Target="/ppt/slides/slide5.xml" Id="Rcf2ebd3a25ee4299" /><Relationship Type="http://schemas.openxmlformats.org/officeDocument/2006/relationships/slide" Target="/ppt/slides/slide6.xml" Id="R923aef2d41e24268" /><Relationship Type="http://schemas.openxmlformats.org/officeDocument/2006/relationships/slide" Target="/ppt/slides/slide7.xml" Id="R77a73ff73d244967" /><Relationship Type="http://schemas.openxmlformats.org/officeDocument/2006/relationships/slide" Target="/ppt/slides/slide8.xml" Id="R5bf540af11604e0b" /><Relationship Type="http://schemas.openxmlformats.org/officeDocument/2006/relationships/slide" Target="/ppt/slides/slide9.xml" Id="Rc9d87da2f7bc4409" /><Relationship Type="http://schemas.openxmlformats.org/officeDocument/2006/relationships/slide" Target="/ppt/slides/slide10.xml" Id="R1c31e984d5ba439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ad4e1c680a3448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3f18d090ad24724" /><Relationship Type="http://schemas.openxmlformats.org/officeDocument/2006/relationships/notesMaster" Target="/ppt/notesMasters/notesMaster1.xml" Id="Redaec8972b1a4e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3648d1e2644dd3" /><Relationship Type="http://schemas.openxmlformats.org/officeDocument/2006/relationships/notesMaster" Target="/ppt/notesMasters/notesMaster1.xml" Id="R2b00ebc30519437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720adb7b574d4c" /><Relationship Type="http://schemas.openxmlformats.org/officeDocument/2006/relationships/notesMaster" Target="/ppt/notesMasters/notesMaster1.xml" Id="R2dfb0ad5528546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5c60c1a41c4611" /><Relationship Type="http://schemas.openxmlformats.org/officeDocument/2006/relationships/notesMaster" Target="/ppt/notesMasters/notesMaster1.xml" Id="Rcc21ef0f13ca403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35f5c3df3d4752" /><Relationship Type="http://schemas.openxmlformats.org/officeDocument/2006/relationships/notesMaster" Target="/ppt/notesMasters/notesMaster1.xml" Id="R7e5c435526934a7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33dd43158984277" /><Relationship Type="http://schemas.openxmlformats.org/officeDocument/2006/relationships/notesMaster" Target="/ppt/notesMasters/notesMaster1.xml" Id="Rfe09f67e69424bd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7e5790a411a4576" /><Relationship Type="http://schemas.openxmlformats.org/officeDocument/2006/relationships/notesMaster" Target="/ppt/notesMasters/notesMaster1.xml" Id="R9802cd69200f4d9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4a1752e87284f85" /><Relationship Type="http://schemas.openxmlformats.org/officeDocument/2006/relationships/notesMaster" Target="/ppt/notesMasters/notesMaster1.xml" Id="R275fe9607742498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9dd307751e445b1" /><Relationship Type="http://schemas.openxmlformats.org/officeDocument/2006/relationships/notesMaster" Target="/ppt/notesMasters/notesMaster1.xml" Id="Ref36c93c54a5445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bf0db67e08484b" /><Relationship Type="http://schemas.openxmlformats.org/officeDocument/2006/relationships/notesMaster" Target="/ppt/notesMasters/notesMaster1.xml" Id="Rf1577901a47344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00:00-00:35 (35 segundos).</a:t>
            </a:r>
          </a:p>
          <a:p xmlns:a="http://schemas.openxmlformats.org/drawingml/2006/main">
            <a:r>
              <a:t>En la EP1 construimos un MLP para clasificar 24 letras estáticas del alfabeto ASL. En esta evaluación mantenemos el mismo problema, dataset y particiones, pero reemplazamos el MLP por una CNN para comparar objetivamente qué aporta una arquitectura diseñada para imágenes.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images/gonzalo_sample_grid.png e INFORME_TECNICO_EP2.md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00:35-01:30 (55 segundos).</a:t>
            </a:r>
          </a:p>
          <a:p xmlns:a="http://schemas.openxmlformats.org/drawingml/2006/main">
            <a:r>
              <a:t>No repetimos la limpieza de la EP1. Reutilizamos el mismo dataset ya validado, las mismas 24 clases, las mismas particiones y la semilla 42. Así la comparación es objetiva. Lo que cambia es el modelo: el MLP recibe un vector plano de 784 valores y la CNN recibe un tensor de 28 por 28 por 1 para aprovechar la estructura espacial.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README.md, src/sign_mlp/data.py y reports/mlp_cnn_comparison.csv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Gonzalo. 01:30-02:30 (60 segundos). Cambio a Jenaro: 02:30-02:40.</a:t>
            </a:r>
          </a:p>
          <a:p xmlns:a="http://schemas.openxmlformats.org/drawingml/2006/main">
            <a:r>
              <a:t>Cada fila del CSV tiene 784 valores porque 28 por 28 es 784. Para la CNN reconstruimos la imagen como un tensor de 28 por 28 por 1: alto, ancho y un canal de gris. Dividimos los píxeles por 255 porque es la intensidad máxima de 8 bits y así el rango queda entre 0 y 1. Esta es la adaptación principal de datos de la EP2, no una nueva limpieza. Conservamos 21.964 imágenes para entrenar, 5.491 para validar y 7.172 para test.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src/sign_mlp/data.py y reports/gonzalo_preprocessing_summary.md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02:40-03:45 (65 segundos).</a:t>
            </a:r>
          </a:p>
          <a:p xmlns:a="http://schemas.openxmlformats.org/drawingml/2006/main">
            <a:r>
              <a:t>La red tiene tres bloques convolucionales con 32, 64 y 128 filtros de 3 por 3. Las convoluciones buscan patrones locales y ReLU agrega no linealidad. Max pooling reduce la representación. Al final, una capa Dense de 128 neuronas integra las características y softmax produce 24 probabilidades.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src/sign_mlp/cnn.py y reports/cnn_model_summary.txt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03:45-04:50 (65 segundos).</a:t>
            </a:r>
          </a:p>
          <a:p xmlns:a="http://schemas.openxmlformats.org/drawingml/2006/main">
            <a:r>
              <a:t>Entrenamos con Adam, learning rate 0,001, batch de 128 y hasta 20 épocas. Sparse categorical crossentropy es adecuada porque las etiquetas son enteros y hay una sola clase correcta entre 24. Dropout reduce la dependencia entre neuronas. EarlyStopping restaura los mejores pesos y ReduceLROnPlateau baja el learning rate si la validación se estanca.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src/sign_mlp/cnn.py, reports/cnn_history.csv e images/cnn_training_curves.png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Jenaro. 04:50-05:50 (60 segundos). Cambio a Jason: 05:50-06:00.</a:t>
            </a:r>
          </a:p>
          <a:p xmlns:a="http://schemas.openxmlformats.org/drawingml/2006/main">
            <a:r>
              <a:t>Los mapas de características muestran que las primeras capas reaccionan a bordes y siluetas. Las capas profundas retienen patrones más abstractos. Grad-CAM marca las zonas que más influyeron en una predicción. En estos ejemplos la atención cae principalmente sobre la mano, pero el mapa es aproximado y no demuestra causalidad.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images/cnn_feature_maps.png e images/cnn_gradcam_examples.png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06:00-07:00 (60 segundos).</a:t>
            </a:r>
          </a:p>
          <a:p xmlns:a="http://schemas.openxmlformats.org/drawingml/2006/main">
            <a:r>
              <a:t>En el test oficial, la CNN alcanzó 96,60% de accuracy, 0,9604 de precision macro, 0,9616 de recall macro y 0,9595 de F1 macro. Reportamos F1 macro porque calcula el resultado por clase y les da el mismo peso, evitando que una clase con más ejemplos domine la evaluación. La diagonal fuerte de la matriz muestra que la mayoría de las predicciones son correctas.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reports/cnn_metrics.json e images/cnn_confusion_matrix.png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07:00-08:15 (75 segundos).</a:t>
            </a:r>
          </a:p>
          <a:p xmlns:a="http://schemas.openxmlformats.org/drawingml/2006/main">
            <a:r>
              <a:t>El MLP obtuvo 79,71% de accuracy de test y la CNN 96,60%, una mejora de 16,89 puntos porcentuales. El F1 macro subió de 0,7760 a 0,9595. La CNN usa 243.352 parámetros frente a 569.240 del MLP, 57,25% menos. Su costo es aproximadamente 10 segundos adicionales de entrenamiento. La brecha validación-test baja de 20,29 a 3,40 puntos, por lo que generaliza mucho mejor.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reports/mlp_cnn_comparison.csv y reports/cnn_metrics.json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08:15-09:10 (55 segundos).</a:t>
            </a:r>
          </a:p>
          <a:p xmlns:a="http://schemas.openxmlformats.org/drawingml/2006/main">
            <a:r>
              <a:t>Los errores más frecuentes son T con X, G con Q y X con T. T es la clase con menor F1, seguida por X y R. Estas señas comparten formas o posiciones de dedos parecidas, por lo que pequeñas diferencias visuales pueden cambiar la clase. Los ejemplos permiten revisar casos concretos, no solo un promedio.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reports/cnn_classification_report.txt, reports/cnn_metrics.json e images/cnn_incorrect_examples.png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Jason. 09:10-10:00 (50 segundos). Terminar la última frase a los 10:00.</a:t>
            </a:r>
          </a:p>
          <a:p xmlns:a="http://schemas.openxmlformats.org/drawingml/2006/main">
            <a:r>
              <a:t>Concluimos que la CNN es más adecuada porque conserva la estructura espacial, comparte filtros y aprende patrones locales. Mejoró fuertemente el rendimiento y la generalización usando menos parámetros, aunque tardó algo más en entrenar. La principal limitación es que solo reconoce letras estáticas. Como siguiente paso proponemos data augmentation, Batch Normalization y evaluación con imágenes externas.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Fuente: INFORME_TECNICO_EP2.md y reports/cnn_metrics.json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385b22b45245d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caa9c208d246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9b9713790142e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3891ea094f474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7bc20685ab4c7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65c265f8f482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ED2E35F-A5AE-434E-A12F-02AAB48526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CA67E81-E854-493C-B437-252FA1DA3762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5CDDC2F-5079-47C5-8F08-FB32EC8E95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CAD0534-871B-4A59-80D8-6FEEC95A0F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0506865-9E7D-460C-AB71-3ABD3B1140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048D9C75-1046-4CE5-8497-817EF267BC1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C8E08D7-27DF-4F44-A0F2-4566797FD5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00173CFE-12CA-4548-9152-B640ED47D1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C957040-FF61-4736-88E5-1B460D4E028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FB58E13-99CA-4EF8-ABE8-67EEB4C24E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d279d4b36b4910" /><Relationship Type="http://schemas.openxmlformats.org/officeDocument/2006/relationships/slideLayout" Target="/ppt/slideLayouts/slideLayout1.xml" Id="Rfdb9852fd91f4415" /><Relationship Type="http://schemas.openxmlformats.org/officeDocument/2006/relationships/slideLayout" Target="/ppt/slideLayouts/slideLayout2.xml" Id="Rcb0a469b65284736" /><Relationship Type="http://schemas.openxmlformats.org/officeDocument/2006/relationships/slideLayout" Target="/ppt/slideLayouts/slideLayout3.xml" Id="R2da5889ad3824dce" /><Relationship Type="http://schemas.openxmlformats.org/officeDocument/2006/relationships/slideLayout" Target="/ppt/slideLayouts/slideLayout4.xml" Id="R9ddac537471147dd" /><Relationship Type="http://schemas.openxmlformats.org/officeDocument/2006/relationships/slideLayout" Target="/ppt/slideLayouts/slideLayout5.xml" Id="R675aeb810c8d415f" /><Relationship Type="http://schemas.openxmlformats.org/officeDocument/2006/relationships/slideLayout" Target="/ppt/slideLayouts/slideLayout6.xml" Id="R1e0a665965f643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b9852fd91f4415"/>
    <p:sldLayoutId xmlns:r="http://schemas.openxmlformats.org/officeDocument/2006/relationships" id="2147483650" r:id="Rcb0a469b65284736"/>
    <p:sldLayoutId xmlns:r="http://schemas.openxmlformats.org/officeDocument/2006/relationships" id="2147483651" r:id="R2da5889ad3824dce"/>
    <p:sldLayoutId xmlns:r="http://schemas.openxmlformats.org/officeDocument/2006/relationships" id="2147483652" r:id="R9ddac537471147dd"/>
    <p:sldLayoutId xmlns:r="http://schemas.openxmlformats.org/officeDocument/2006/relationships" id="2147483653" r:id="R675aeb810c8d415f"/>
    <p:sldLayoutId xmlns:r="http://schemas.openxmlformats.org/officeDocument/2006/relationships" id="2147483654" r:id="R1e0a665965f643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f1732568a947a5" /><Relationship Type="http://schemas.openxmlformats.org/officeDocument/2006/relationships/image" Target="/ppt/media/image.png" Id="R7704821f73154d67" /><Relationship Type="http://schemas.openxmlformats.org/officeDocument/2006/relationships/notesSlide" Target="/ppt/notesSlides/notesSlide1.xml" Id="Rb1ef57e35c9b4e4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a763e504a745ba" /><Relationship Type="http://schemas.openxmlformats.org/officeDocument/2006/relationships/notesSlide" Target="/ppt/notesSlides/notesSlide2.xml" Id="Rbe83502bb3f544d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d5a84b1f034435" /><Relationship Type="http://schemas.openxmlformats.org/officeDocument/2006/relationships/notesSlide" Target="/ppt/notesSlides/notesSlide3.xml" Id="Rbe562e9064b941e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5e5b0fdac19477d" /><Relationship Type="http://schemas.openxmlformats.org/officeDocument/2006/relationships/notesSlide" Target="/ppt/notesSlides/notesSlide4.xml" Id="R29a396c26d764d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9d2aa994f5406f" /><Relationship Type="http://schemas.openxmlformats.org/officeDocument/2006/relationships/image" Target="/ppt/media/image2.png" Id="Rd7a63b0498b447ab" /><Relationship Type="http://schemas.openxmlformats.org/officeDocument/2006/relationships/notesSlide" Target="/ppt/notesSlides/notesSlide5.xml" Id="R20489efe2e8c48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d64cf38d17d481c" /><Relationship Type="http://schemas.openxmlformats.org/officeDocument/2006/relationships/image" Target="/ppt/media/image3.png" Id="R1f98e29b9ac8440d" /><Relationship Type="http://schemas.openxmlformats.org/officeDocument/2006/relationships/image" Target="/ppt/media/image4.png" Id="R31229f9563aa4535" /><Relationship Type="http://schemas.openxmlformats.org/officeDocument/2006/relationships/notesSlide" Target="/ppt/notesSlides/notesSlide6.xml" Id="Rff790a1b574a4d7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5e289399e241f4" /><Relationship Type="http://schemas.openxmlformats.org/officeDocument/2006/relationships/image" Target="/ppt/media/image5.png" Id="R4b27a6e42f374974" /><Relationship Type="http://schemas.openxmlformats.org/officeDocument/2006/relationships/notesSlide" Target="/ppt/notesSlides/notesSlide7.xml" Id="R20a7dc1951d6473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d5a89ad6c9949b3" /><Relationship Type="http://schemas.openxmlformats.org/officeDocument/2006/relationships/chart" Target="/ppt/slides/charts/chart1.xml" Id="R0223d16e4e5b4520" /><Relationship Type="http://schemas.openxmlformats.org/officeDocument/2006/relationships/notesSlide" Target="/ppt/notesSlides/notesSlide8.xml" Id="R416c801d4d89466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fde4886004e82" /><Relationship Type="http://schemas.openxmlformats.org/officeDocument/2006/relationships/image" Target="/ppt/media/image6.png" Id="R8cb08d71654a4d44" /><Relationship Type="http://schemas.openxmlformats.org/officeDocument/2006/relationships/notesSlide" Target="/ppt/notesSlides/notesSlide9.xml" Id="R727423b7d381486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fb954dd2154b98" /><Relationship Type="http://schemas.openxmlformats.org/officeDocument/2006/relationships/notesSlide" Target="/ppt/notesSlides/notesSlide10.xml" Id="R9e2f8d6d63364f30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 test</c:v>
          </c:tx>
          <c:spPr>
            <a:solidFill xmlns:a="http://schemas.openxmlformats.org/drawingml/2006/main">
              <a:srgbClr val="087F8C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MLP EP1</c:v>
                </c:pt>
                <c:pt idx="1">
                  <c:v>CNN EP2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79.71</c:v>
                </c:pt>
                <c:pt idx="1">
                  <c:v>96.6</c:v>
                </c:pt>
              </c:numCache>
            </c:numRef>
          </c:val>
        </c:ser>
        <c:ser>
          <c:idx val="1"/>
          <c:order val="1"/>
          <c:tx>
            <c:v>F1 macro test</c:v>
          </c:tx>
          <c:spPr>
            <a:solidFill xmlns:a="http://schemas.openxmlformats.org/drawingml/2006/main">
              <a:srgbClr val="17324D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MLP EP1</c:v>
                </c:pt>
                <c:pt idx="1">
                  <c:v>CNN EP2</c:v>
                </c:pt>
              </c:strCache>
            </c:strRef>
          </c:cat>
          <c:val>
            <c:numRef>
              <c:f>'Chart Data'!$D$2:$D$3</c:f>
              <c:numCache>
                <c:formatCode>0"%"</c:formatCode>
                <c:ptCount val="2"/>
                <c:pt idx="0">
                  <c:v>77.6</c:v>
                </c:pt>
                <c:pt idx="1">
                  <c:v>95.95</c:v>
                </c:pt>
              </c:numCache>
            </c:numRef>
          </c:val>
        </c:ser>
        <c:dLbls>
          <c:numFmt formatCode="0.00&quot;%&quot;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125" b="1">
                  <a:solidFill>
                    <a:srgbClr val="17324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10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CE4E9"/>
              </a:solidFill>
              <a:prstDash val="solid"/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>
              <a:solidFill>
                <a:srgbClr val="4E5C68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02B94E-5B97-4B79-BC6C-F7A585C8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52500"/>
            <a:ext cx="552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Sign Language</a:t>
            </a:r>
          </a:p>
          <a:p xmlns:a="http://schemas.openxmlformats.org/drawingml/2006/main">
            <a:pPr algn="l">
              <a:defRPr sz="48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MNIST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41E4D0-99C1-45C3-A8AA-C82C04AC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9900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850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850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Clasificación con CNN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57FC91-6367-4B8C-9619-043CF73B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5715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Continuidad y comparación con el MLP de la EP1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3FD5B-EFF5-4536-882D-A92E8910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6191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Gonzalo Castillo · Jenaro Marin · Jason Aguilera</a:t>
            </a:r>
          </a:p>
          <a:p xmlns:a="http://schemas.openxmlformats.org/drawingml/2006/main">
            <a:pPr algn="l">
              <a:defRPr sz="16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TLY1102 · Evaluación Parcial 2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7D31E8-34BC-4458-B73A-C164A3A65E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4821f73154d67"/>
          <a:stretch xmlns:a="http://schemas.openxmlformats.org/drawingml/2006/main"/>
        </p:blipFill>
        <p:spPr>
          <a:xfrm xmlns:a="http://schemas.openxmlformats.org/drawingml/2006/main">
            <a:off x="6762750" y="1480785"/>
            <a:ext cx="4810125" cy="356305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9886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064196-99D9-4C08-93A3-9AC78382D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Continuidad EP1 → EP2: cambia el modelo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6A6009-2E2C-4D59-9C5B-9ECFA9BF8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2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FB71AE-AF9A-4A82-B560-A77191C47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40005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8EEF4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C72931-D10C-4EC1-854A-BF637B72A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47825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MLP · EP1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121106-3F89-4EF3-8484-9F005C791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19300"/>
            <a:ext cx="3771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Entrada: vector de 784 valores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Conexiones densas globales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569.240 parámetros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C9704C-5406-442E-9E83-CCBAA1B0B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381250"/>
            <a:ext cx="1428750" cy="647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58FD46-ED79-4365-ACEF-5AE271CB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1125" y="1924050"/>
            <a:ext cx="1619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misma tarea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DA899-EDFF-418F-A1F9-CCC71C1B0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71625"/>
            <a:ext cx="4000500" cy="2333625"/>
          </a:xfrm>
          <a:prstGeom xmlns:a="http://schemas.openxmlformats.org/drawingml/2006/main" prst="roundRect">
            <a:avLst>
              <a:gd name="adj" fmla="val 3265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206335-DE97-4F44-B41A-CDFBC14F1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647825"/>
            <a:ext cx="3771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CNN · EP2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FADC5-D147-4643-AA65-98A584CD1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019300"/>
            <a:ext cx="37719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Entrada: tensor 28 × 28 × 1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Filtros locales + pooling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243.352 parámetros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B365A8-6109-45F2-A229-C1A3E564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Se mantiene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DAE007-18BC-43D0-A080-284B2EB4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7680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Dataset, 24 clases, particiones y semilla 42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B42048-96BB-4A02-BB6A-B1371C8B6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29125"/>
            <a:ext cx="2571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Se adapta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DDE840-0AAF-42D2-9FFD-D7440D0E7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876800"/>
            <a:ext cx="481012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Formato de entrada y arquitectura para aprovechar la estructura espacial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7EBE0F-771E-40B1-844C-4C977C68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48350"/>
            <a:ext cx="10382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800" b="1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5C68"/>
                </a:solidFill>
                <a:latin typeface="Arial"/>
                <a:ea typeface="Arial"/>
                <a:cs typeface="Arial"/>
              </a:rPr>
              <a:t>No se repite la limpieza de la EP1: se reutilizan los datos ya validados.</a:t>
            </a:r>
          </a:p>
        </p:txBody>
      </p:sp>
    </p:spTree>
    <p:extLst>
      <p:ext uri="{BB962C8B-B14F-4D97-AF65-F5344CB8AC3E}">
        <p14:creationId xmlns:p14="http://schemas.microsoft.com/office/powerpoint/2010/main" val="179771787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D1E5CD-987D-4DB4-B538-726D4D519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Preparación específica para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C140B8B-CF98-4F7E-BBD0-5A56E52A2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FE8CCA-62CC-4050-B173-36585ABD1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CC2C00-0AC7-4AD9-86B1-0265BC8ED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CSV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E29E26-808C-40D5-86C4-F2A70F50C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label + 784 píxeles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D5C79-5E58-448C-B001-5E8115AC1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41327E-043C-4544-86AC-E3CBAFE81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6D1F4-1BFA-481A-8A64-BE2543A8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Normalizar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D5AF83-C963-43CA-A448-70D5C8E13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píxel / 255</a:t>
            </a:r>
          </a:p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0-255 → 0-1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BA941-3065-4D8E-94EC-D7BAF9B0F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74B48-57F4-4B4E-9D9A-4EAC10B5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71625"/>
            <a:ext cx="2286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3F04C0-D097-49E2-8BF7-0D270F3B5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647825"/>
            <a:ext cx="205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Reconstruir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73B222F-8E70-49A9-88A6-DB58D6E9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19300"/>
            <a:ext cx="2057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tensor 28 × 28 ×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DA87F1-1E48-47BE-BFC0-419AABA5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971675"/>
            <a:ext cx="45720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0FB011-A822-4AC9-BCF9-6317F0DE4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1571625"/>
            <a:ext cx="20955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E3E49C-C97D-4C73-8FB0-9C3DA18E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1647825"/>
            <a:ext cx="1866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Entrar a CNN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A60FF6-5C97-4D5D-B843-933D8064A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019300"/>
            <a:ext cx="18669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conservar vecindad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06FB08-60D1-4789-9389-7C155C19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86125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Particiones estratificadas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6BB4FB4-78E9-423E-ABFA-2E86BA0A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21.964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2D7A3C-ABFF-4E24-B58F-47BC8DCD0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entrenamiento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20782B-54D2-4926-9A8D-C9946272A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5.491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D8BF9F5-9E1D-44D5-8A6A-1EB68F2D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validación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D09C851-EDBA-42AA-B5DC-F68A095E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952875"/>
            <a:ext cx="285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7.172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802FC5-E3EC-4F15-83FA-1CC28514B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6101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test oficial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3896F8-3574-4ADD-A96C-795DE69AB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Adaptación EP2: cambiar el formato, no volver a limpiar. El test sigue separado.</a:t>
            </a:r>
          </a:p>
        </p:txBody>
      </p:sp>
    </p:spTree>
    <p:extLst>
      <p:ext uri="{BB962C8B-B14F-4D97-AF65-F5344CB8AC3E}">
        <p14:creationId xmlns:p14="http://schemas.microsoft.com/office/powerpoint/2010/main" val="11430568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7AE3BCB-B01B-425E-A569-3035DD12D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Arquitectura: aprender patrones espaciales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9069BE-0739-4970-A7F6-1D17D5F0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4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370A88-6F4B-4AEE-B795-9DE39992A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714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DB2DA7-0551-4FC8-99E1-893E9CCD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Entrada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E851AC-CC2E-4683-A554-3070BC411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14550"/>
            <a:ext cx="14859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28×28×1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35AD9-773B-46B3-951E-671523D7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9C2B6-72F4-4B15-91A7-ACC2B3CC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756D0-4C5D-4242-A5D7-FFD46ABA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2FA569-2002-4B1F-BD31-9C1E4FF2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32 filtros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5375B3-FD38-4F8C-B335-AEAE2BB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C2D058-CCDF-49B7-8AE7-813989075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646CC4-AC15-4721-B1D0-3A545BB7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4A1EBC-A950-4E21-9207-D0078E1B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64 filtros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C48FD8-B7A0-47A2-ABA4-55C6AE75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427553-6B7B-480D-9955-89F4EF294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666875"/>
            <a:ext cx="18097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4F5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18A41-8BB6-43E3-B062-7E9AD615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743075"/>
            <a:ext cx="1581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Conv + Pool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3FA89A-B9C1-4435-9F32-365A8223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14550"/>
            <a:ext cx="15811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128 filtros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6F539A-481D-4F49-A865-1D70047E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28825"/>
            <a:ext cx="2667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solidFill>
              <a:srgbClr val="087F8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FC8F60-59AC-4D1E-8373-C0B125837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666875"/>
            <a:ext cx="23812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8EEF4"/>
          </a:solidFill>
          <a:ln xmlns:a="http://schemas.openxmlformats.org/drawingml/2006/main" w="14288">
            <a:solidFill>
              <a:srgbClr val="087F8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144CC7-F5EC-40D7-BF32-A63E65C9B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43075"/>
            <a:ext cx="2152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Clasificador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AAD590-B2C8-451D-B4F5-3F92D1493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14550"/>
            <a:ext cx="21526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Dense 128 → 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6E9ECA-53A4-4265-BB6A-2731A917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E5CC6C-AB59-4F5E-9998-241CD908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0E8E8D-DDCD-42EC-9578-EDF423C9E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9718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3 ×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51D4B52-1605-464B-BC5E-FC7DA732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Convolución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8B678-6C3D-432F-A478-FD277F900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333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Detecta bordes, contornos y combinaciones locales usando filtros compartidos.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8888C99-E5EE-487A-8751-31F3C8B6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857625"/>
            <a:ext cx="285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Pooling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179EAF-5C18-4C80-81F7-3152AAC22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295775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Reduce el tamaño espacial y conserva las activaciones más importantes.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86B783-75BC-4994-93FB-CBB3010BD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857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Softmax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089E4C-4C2C-4CEE-B188-B7212AB5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95775"/>
            <a:ext cx="314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Entrega 24 probabilidades que suman 1; elegimos la mayor.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BEA95C-83BA-42FD-82CA-B83DDD07F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Total: 243.352 parámetros entrenables</a:t>
            </a:r>
          </a:p>
        </p:txBody>
      </p:sp>
    </p:spTree>
    <p:extLst>
      <p:ext uri="{BB962C8B-B14F-4D97-AF65-F5344CB8AC3E}">
        <p14:creationId xmlns:p14="http://schemas.microsoft.com/office/powerpoint/2010/main" val="19184915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C4A14C-5789-44EF-A08F-2ED0A4DF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Entrenamiento y control del sobreajuste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081B3FB-2BE3-4202-9335-B68B62BE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5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595A1-BF47-4868-8330-1014219A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Configuración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F0CB79-3E1D-447F-A714-8496468E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Optimizador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28A185-431F-42EA-A8E4-FBDF20312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0478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Adam · 0,001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82BF01-A9EC-4E81-B9F0-C38B695DC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Pérdida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72DD24-2B33-4639-9A7F-E8EBDACC6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60032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Sparse categorical crossentropy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71D8A6-97CB-4072-B53C-11B7A4A0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527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Batch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14AA2F-04EA-4ADE-B93E-8E526BC1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1527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128 imágenes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278C19-7175-4709-A7EE-2B58E686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Presupuesto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904A1-1BA6-4B8A-B327-50C000B1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70522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hasta 20 épocas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E45964-D2B6-45FC-89F3-5EFDC51BC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666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Semilla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4BCA1B-C679-479D-9ED6-37DF8EEE0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257675"/>
            <a:ext cx="3095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1BE02-6DDF-42F3-935F-F4D3AACA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Dropout 0,25 / 0,40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31D138-7D8E-4CFF-9089-F10C9DBB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0545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EarlyStopping + ReduceLROnPlateau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1B7EF90-CCC3-43A2-8326-495D3B93D4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a63b0498b447ab"/>
          <a:stretch xmlns:a="http://schemas.openxmlformats.org/drawingml/2006/main"/>
        </p:blipFill>
        <p:spPr>
          <a:xfrm xmlns:a="http://schemas.openxmlformats.org/drawingml/2006/main">
            <a:off x="5572125" y="2605627"/>
            <a:ext cx="5905500" cy="1932497"/>
          </a:xfrm>
          <a:prstGeom xmlns:a="http://schemas.openxmlformats.org/drawingml/2006/main" prst="rect">
            <a:avLst/>
          </a:prstGeom>
        </p:spPr>
      </p:pic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F781AE0-56FD-451D-96D1-5938ECA33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58293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6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20 épocas · 41,41 s · 100% accuracy de validación</a:t>
            </a:r>
          </a:p>
        </p:txBody>
      </p:sp>
    </p:spTree>
    <p:extLst>
      <p:ext uri="{BB962C8B-B14F-4D97-AF65-F5344CB8AC3E}">
        <p14:creationId xmlns:p14="http://schemas.microsoft.com/office/powerpoint/2010/main" val="2598378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6E1D3-C809-4274-B53F-F6900996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Qué aprende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7098E0-944F-4AF4-814D-2B280B6D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6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F3DBF6-9FF4-4D12-B0B2-6D2A4C3F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7635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Mapas de características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5E154-8580-4B26-BAD7-8C07CDF7B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2763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Grad-CAM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454C8E-63A9-4C67-9EE5-02D2FE8BE05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98e29b9ac8440d"/>
          <a:stretch xmlns:a="http://schemas.openxmlformats.org/drawingml/2006/main"/>
        </p:blipFill>
        <p:spPr>
          <a:xfrm xmlns:a="http://schemas.openxmlformats.org/drawingml/2006/main">
            <a:off x="514350" y="2458218"/>
            <a:ext cx="5524500" cy="2265413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1F49F6-F129-4777-AF0B-56C94B789AC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229f9563aa4535"/>
          <a:stretch xmlns:a="http://schemas.openxmlformats.org/drawingml/2006/main"/>
        </p:blipFill>
        <p:spPr>
          <a:xfrm xmlns:a="http://schemas.openxmlformats.org/drawingml/2006/main">
            <a:off x="8328376" y="1733550"/>
            <a:ext cx="1231198" cy="3714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6B8A24-7FC1-4867-AF10-DAE679DC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1911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Capas iniciales: bordes y siluetas. Capas profundas: patrones más abstractos.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6433FD-C4E3-4B52-B2CC-BC8414940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562600"/>
            <a:ext cx="4953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El calor se concentra principalmente en la mano; es una explicación aproximada.</a:t>
            </a:r>
          </a:p>
        </p:txBody>
      </p:sp>
    </p:spTree>
    <p:extLst>
      <p:ext uri="{BB962C8B-B14F-4D97-AF65-F5344CB8AC3E}">
        <p14:creationId xmlns:p14="http://schemas.microsoft.com/office/powerpoint/2010/main" val="111220979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C11615-6179-40AF-9C6D-0B5CD03C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Evaluación final sobre 7.172 imágenes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4DBA04-8152-4CA5-9C86-A9F74FA0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7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F7042F-BFA2-4140-9CF9-19D31537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96,60%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94C02E-0F18-4771-AC99-06D2CD89F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8122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CED778-F1DA-486F-A6AE-D54CC246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0,9604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CB0BA3-9200-4F8A-A60B-E712D7AA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Precision macro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88535D-2265-479F-B1F8-28C86CFF6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0,9616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3DAE8E-64DD-4299-A940-64FF3EF81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434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Recall macro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0266D-4E1A-48D7-9780-3D33E123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0,9595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BD29A-0146-4E9C-A32E-45C87FAF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F1 macro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074BE-1EA9-4420-A4E0-82EED8C519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27a6e42f374974"/>
          <a:stretch xmlns:a="http://schemas.openxmlformats.org/drawingml/2006/main"/>
        </p:blipFill>
        <p:spPr>
          <a:xfrm xmlns:a="http://schemas.openxmlformats.org/drawingml/2006/main">
            <a:off x="4486284" y="1190625"/>
            <a:ext cx="6172181" cy="500062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28265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84BE4B-7CC1-47AE-A5C8-C6A1A121A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CNN versus MLP: misma tarea, mejor generalización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5664F6-104D-4313-B44E-08CEA98E7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8 / 10</a:t>
            </a:r>
          </a:p>
        </p:txBody>
      </p:sp>
      <p:graphicFrame>
        <p:nvGraphicFramePr>
          <p:cNvPr id="3" name="Chart">
            <a:extLst xmlns:a="http://schemas.openxmlformats.org/drawingml/2006/main">
              <a:ext uri="{FF2B5EF4-FFF2-40B4-BE49-F238E27FC236}">
                <a16:creationId xmlns:a16="http://schemas.microsoft.com/office/drawing/2014/main" id="{739C46F8-8765-48B2-90AC-76DE2EA3A1BE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671512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223d16e4e5b4520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007C5E-C845-4894-B1D4-7391B513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7637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+16,89 pp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995626-F305-4913-AE39-82E09257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336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784187-39EA-4ED3-B969-F46D0301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57500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−57,25%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B84A62-324E-4508-AEF3-1A66ED581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1472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parámetros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90C5F8-D298-4820-B1F0-333C92C37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238625"/>
            <a:ext cx="3333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3,40 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F6A643-E815-436C-AD99-7DE1E7044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958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brecha validación-test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A4D2D3-C8D3-4FD3-AB3F-20211ABE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56388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Tiempo: CNN 41,41 s · MLP 31,50 s</a:t>
            </a:r>
          </a:p>
        </p:txBody>
      </p:sp>
    </p:spTree>
    <p:extLst>
      <p:ext uri="{BB962C8B-B14F-4D97-AF65-F5344CB8AC3E}">
        <p14:creationId xmlns:p14="http://schemas.microsoft.com/office/powerpoint/2010/main" val="20377676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DAEAD3-51E0-4BC5-A732-0304C17F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Dónde se equivoca la CNN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5781CF-1A51-403F-AC00-CF3930C6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9 / 10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E749F-A1F5-49A2-9C17-83ED79C71CC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b08d71654a4d44"/>
          <a:stretch xmlns:a="http://schemas.openxmlformats.org/drawingml/2006/main"/>
        </p:blipFill>
        <p:spPr>
          <a:xfrm xmlns:a="http://schemas.openxmlformats.org/drawingml/2006/main">
            <a:off x="1831628" y="1285875"/>
            <a:ext cx="4328218" cy="4476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C0A27B-76D7-4222-9E68-D61A93EC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76375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Confusiones frecuentes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72052A-D42F-4132-BD0A-B9DA4D701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76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 → X: 60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A5A828-9016-46E1-8B62-445826607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5527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G → Q: 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882263-10EB-4D1F-A5A7-18238B5BF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0289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X → T: 21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C50BAC-EB2C-4475-8D6C-B24514EF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50520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 → E: 21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A45DBB-13C0-424C-9E30-84905ADEC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81450"/>
            <a:ext cx="2952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 → L: 21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377FE-EBD2-44CB-96C9-03F64D61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619625"/>
            <a:ext cx="3333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Menor F1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1F003F-9645-477A-90D3-32768E5EA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504825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T 0,7745 · X 0,8586 · R 0,8723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D7C27-7AA9-4D81-8C55-EDC88166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Las formas y posiciones de dedos similares explican parte de la dificultad.</a:t>
            </a:r>
          </a:p>
        </p:txBody>
      </p:sp>
    </p:spTree>
    <p:extLst>
      <p:ext uri="{BB962C8B-B14F-4D97-AF65-F5344CB8AC3E}">
        <p14:creationId xmlns:p14="http://schemas.microsoft.com/office/powerpoint/2010/main" val="19903957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7E75E-292A-4649-883B-AEC4FE54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10668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Conclusión: la estructura espacial sí importa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3EFB81-2619-462A-B745-C100F2CBA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419850"/>
            <a:ext cx="838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10 /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772341-9C3C-41D8-B454-8AA73034B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39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9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96,60%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E16E37-4587-4CC2-BACB-DFEBF11E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3360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defPPr>
            <a:lvl1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1pPr>
            <a:lvl2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2pPr>
            <a:lvl3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3pPr>
            <a:lvl4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4pPr>
            <a:lvl5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5pPr>
            <a:lvl6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6pPr>
            <a:lvl7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7pPr>
            <a:lvl8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8pPr>
            <a:lvl9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324D"/>
                </a:solidFill>
                <a:latin typeface="Arial"/>
                <a:ea typeface="Arial"/>
                <a:cs typeface="Arial"/>
              </a:rPr>
              <a:t>accuracy de test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227325-834B-49AC-9CAF-02C30A15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4287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Mejor generalización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E0429F-8701-4EB8-8AF1-67D8011A9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90500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La brecha validación-test cae de 20,29 a 3,40 puntos porcentuales.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A41523-292B-47E2-B5D6-66EAFBAB8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85750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Menos parámetros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7C934-4C3F-46B2-8B47-F601460B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6191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La CNN usa 243.352 parámetros: 57,25% menos que el MLP.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19573-F7CD-4423-AF7A-1EFB3942F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86250"/>
            <a:ext cx="619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Próximo experimento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9A9202-B7DC-4566-8E7F-9F4B92759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762500"/>
            <a:ext cx="6191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263746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263746"/>
                </a:solidFill>
                <a:latin typeface="Arial"/>
                <a:ea typeface="Arial"/>
                <a:cs typeface="Arial"/>
              </a:rPr>
              <a:t>Data augmentation, Batch Normalization y validación con imágenes externas.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41627F-5949-469F-9A02-A7ED4D13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66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E5C6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4E5C68"/>
                </a:solidFill>
                <a:latin typeface="Arial"/>
                <a:ea typeface="Arial"/>
                <a:cs typeface="Arial"/>
              </a:rPr>
              <a:t>Limitación: reconoce letras estáticas; no J, Z ni secuencias de video.</a:t>
            </a:r>
          </a:p>
        </p:txBody>
      </p:sp>
    </p:spTree>
    <p:extLst>
      <p:ext uri="{BB962C8B-B14F-4D97-AF65-F5344CB8AC3E}">
        <p14:creationId xmlns:p14="http://schemas.microsoft.com/office/powerpoint/2010/main" val="170883001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2026-10-18T01:01:50.1850000Z</dcterms:created>
  <dcterms:modified xsi:type="dcterms:W3CDTF">2026-10-18T01:01:50.1850000Z</dcterms:modified>
</coreProperties>
</file>