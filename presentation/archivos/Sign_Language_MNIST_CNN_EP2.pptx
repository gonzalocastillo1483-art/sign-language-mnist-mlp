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6dfb7bb880444b" /><Relationship Type="http://schemas.openxmlformats.org/officeDocument/2006/relationships/extended-properties" Target="/docProps/app.xml" Id="Rcbe0b445460f40b4" /><Relationship Type="http://schemas.openxmlformats.org/officeDocument/2006/relationships/officeDocument" Target="/ppt/presentation.xml" Id="R7fc941525da841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f979c29b7d4e92"/>
  </p:sldMasterIdLst>
  <p:notesMasterIdLst>
    <p:notesMasterId xmlns:r="http://schemas.openxmlformats.org/officeDocument/2006/relationships" r:id="R741a856add254dde"/>
  </p:notesMasterIdLst>
  <p:sldIdLst>
    <p:sldId xmlns:r="http://schemas.openxmlformats.org/officeDocument/2006/relationships" id="256" r:id="R60a4bb9e3a9441bf"/>
    <p:sldId xmlns:r="http://schemas.openxmlformats.org/officeDocument/2006/relationships" id="257" r:id="R8daaa208960341ac"/>
    <p:sldId xmlns:r="http://schemas.openxmlformats.org/officeDocument/2006/relationships" id="258" r:id="R3c8281954dc0414f"/>
    <p:sldId xmlns:r="http://schemas.openxmlformats.org/officeDocument/2006/relationships" id="259" r:id="Ra699eb8221fa443f"/>
    <p:sldId xmlns:r="http://schemas.openxmlformats.org/officeDocument/2006/relationships" id="260" r:id="Rcddd2d9b42524157"/>
    <p:sldId xmlns:r="http://schemas.openxmlformats.org/officeDocument/2006/relationships" id="261" r:id="R97e23080d8114ab3"/>
    <p:sldId xmlns:r="http://schemas.openxmlformats.org/officeDocument/2006/relationships" id="262" r:id="R5152a901ed324e61"/>
    <p:sldId xmlns:r="http://schemas.openxmlformats.org/officeDocument/2006/relationships" id="263" r:id="Re48d762f43854370"/>
    <p:sldId xmlns:r="http://schemas.openxmlformats.org/officeDocument/2006/relationships" id="264" r:id="R25ee2e3cf1b44449"/>
    <p:sldId xmlns:r="http://schemas.openxmlformats.org/officeDocument/2006/relationships" id="265" r:id="R6d893923f4d34f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b7275086f34baf" /><Relationship Type="http://schemas.openxmlformats.org/officeDocument/2006/relationships/slideMaster" Target="/ppt/slideMasters/slideMaster1.xml" Id="R90f979c29b7d4e92" /><Relationship Type="http://schemas.openxmlformats.org/officeDocument/2006/relationships/notesMaster" Target="/ppt/notesMasters/notesMaster1.xml" Id="R741a856add254dde" /><Relationship Type="http://schemas.openxmlformats.org/officeDocument/2006/relationships/presProps" Target="/ppt/presProps.xml" Id="Re0609f9ada0e4ad2" /><Relationship Type="http://schemas.openxmlformats.org/officeDocument/2006/relationships/tableStyles" Target="/ppt/tableStyles.xml" Id="R24eef4f9a417495e" /><Relationship Type="http://schemas.openxmlformats.org/officeDocument/2006/relationships/slide" Target="/ppt/slides/slide1.xml" Id="R60a4bb9e3a9441bf" /><Relationship Type="http://schemas.openxmlformats.org/officeDocument/2006/relationships/slide" Target="/ppt/slides/slide2.xml" Id="R8daaa208960341ac" /><Relationship Type="http://schemas.openxmlformats.org/officeDocument/2006/relationships/slide" Target="/ppt/slides/slide3.xml" Id="R3c8281954dc0414f" /><Relationship Type="http://schemas.openxmlformats.org/officeDocument/2006/relationships/slide" Target="/ppt/slides/slide4.xml" Id="Ra699eb8221fa443f" /><Relationship Type="http://schemas.openxmlformats.org/officeDocument/2006/relationships/slide" Target="/ppt/slides/slide5.xml" Id="Rcddd2d9b42524157" /><Relationship Type="http://schemas.openxmlformats.org/officeDocument/2006/relationships/slide" Target="/ppt/slides/slide6.xml" Id="R97e23080d8114ab3" /><Relationship Type="http://schemas.openxmlformats.org/officeDocument/2006/relationships/slide" Target="/ppt/slides/slide7.xml" Id="R5152a901ed324e61" /><Relationship Type="http://schemas.openxmlformats.org/officeDocument/2006/relationships/slide" Target="/ppt/slides/slide8.xml" Id="Re48d762f43854370" /><Relationship Type="http://schemas.openxmlformats.org/officeDocument/2006/relationships/slide" Target="/ppt/slides/slide9.xml" Id="R25ee2e3cf1b44449" /><Relationship Type="http://schemas.openxmlformats.org/officeDocument/2006/relationships/slide" Target="/ppt/slides/slide10.xml" Id="R6d893923f4d34f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017d4882e64d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daf70935c74262" /><Relationship Type="http://schemas.openxmlformats.org/officeDocument/2006/relationships/notesMaster" Target="/ppt/notesMasters/notesMaster1.xml" Id="R54d92be8212d40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fc1f587bcb40de" /><Relationship Type="http://schemas.openxmlformats.org/officeDocument/2006/relationships/notesMaster" Target="/ppt/notesMasters/notesMaster1.xml" Id="R93217866f28d45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ef8dca12394b9b" /><Relationship Type="http://schemas.openxmlformats.org/officeDocument/2006/relationships/notesMaster" Target="/ppt/notesMasters/notesMaster1.xml" Id="R65b07774386b41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89a8bedae44594" /><Relationship Type="http://schemas.openxmlformats.org/officeDocument/2006/relationships/notesMaster" Target="/ppt/notesMasters/notesMaster1.xml" Id="R5af5f51ee04949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d0aee861d74b21" /><Relationship Type="http://schemas.openxmlformats.org/officeDocument/2006/relationships/notesMaster" Target="/ppt/notesMasters/notesMaster1.xml" Id="R9b12e6b1ec2743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c0204b79b144f2" /><Relationship Type="http://schemas.openxmlformats.org/officeDocument/2006/relationships/notesMaster" Target="/ppt/notesMasters/notesMaster1.xml" Id="R159523a55b3a46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ed2aad89a74312" /><Relationship Type="http://schemas.openxmlformats.org/officeDocument/2006/relationships/notesMaster" Target="/ppt/notesMasters/notesMaster1.xml" Id="R57cc76f1c18845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b5dd2c320b4c42" /><Relationship Type="http://schemas.openxmlformats.org/officeDocument/2006/relationships/notesMaster" Target="/ppt/notesMasters/notesMaster1.xml" Id="Rb87358c4d37049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6cf600c890406c" /><Relationship Type="http://schemas.openxmlformats.org/officeDocument/2006/relationships/notesMaster" Target="/ppt/notesMasters/notesMaster1.xml" Id="Re191ed70353c41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c5271cc1c848a9" /><Relationship Type="http://schemas.openxmlformats.org/officeDocument/2006/relationships/notesMaster" Target="/ppt/notesMasters/notesMaster1.xml" Id="R33517398d11f41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Gonzalo. 30 segundos.</a:t>
            </a:r>
          </a:p>
          <a:p xmlns:a="http://schemas.openxmlformats.org/drawingml/2006/main">
            <a:r>
              <a:t>En la EP1 construimos un MLP para clasificar 24 letras estáticas del alfabeto ASL. En esta evaluación mantenemos el mismo problema, dataset y particiones, pero reemplazamos el MLP por una CNN para comparar objetivamente qué aporta una arquitectura diseñada para imágenes.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images/gonzalo_sample_grid.png e INFORME_TECNICO_EP2.md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Gonzalo. 55 segundos.</a:t>
            </a:r>
          </a:p>
          <a:p xmlns:a="http://schemas.openxmlformats.org/drawingml/2006/main">
            <a:r>
              <a:t>No repetimos la limpieza de la EP1. Reutilizamos el mismo dataset ya validado, las mismas 24 clases, las mismas particiones y la semilla 42. Así la comparación es objetiva. Lo que cambia es el modelo: el MLP recibe un vector plano de 784 valores y la CNN recibe un tensor de 28 por 28 por 1 para aprovechar la estructura espacial.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README.md, src/sign_mlp/data.py y reports/mlp_cnn_comparison.csv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Gonzalo. 75 segundos.</a:t>
            </a:r>
          </a:p>
          <a:p xmlns:a="http://schemas.openxmlformats.org/drawingml/2006/main">
            <a:r>
              <a:t>Cada fila del CSV tiene 784 valores porque 28 por 28 es 784. Para la CNN reconstruimos la imagen como un tensor de 28 por 28 por 1: alto, ancho y un canal de gris. Dividimos los píxeles por 255 porque es la intensidad máxima de 8 bits y así el rango queda entre 0 y 1. Esta es la adaptación principal de datos de la EP2, no una nueva limpieza. Conservamos 21.964 imágenes para entrenar, 5.491 para validar y 7.172 para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src/sign_mlp/data.py y reports/gonzalo_preprocessing_summary.md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Jenaro. 65 segundos.</a:t>
            </a:r>
          </a:p>
          <a:p xmlns:a="http://schemas.openxmlformats.org/drawingml/2006/main">
            <a:r>
              <a:t>La red tiene tres bloques convolucionales con 32, 64 y 128 filtros de 3 por 3. Las convoluciones buscan patrones locales y ReLU agrega no linealidad. Max pooling reduce la representación. Al final, una capa Dense de 128 neuronas integra las características y softmax produce 24 probabilidades.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src/sign_mlp/cnn.py y reports/cnn_model_summary.txt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Jenaro. 60 segundos.</a:t>
            </a:r>
          </a:p>
          <a:p xmlns:a="http://schemas.openxmlformats.org/drawingml/2006/main">
            <a:r>
              <a:t>Entrenamos con Adam, learning rate 0,001, batch de 128 y hasta 20 épocas. Sparse categorical crossentropy es adecuada porque las etiquetas son enteros y hay una sola clase correcta entre 24. Dropout reduce la dependencia entre neuronas. EarlyStopping restaura los mejores pesos y ReduceLROnPlateau baja el learning rate si la validación se estanca.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src/sign_mlp/cnn.py, reports/cnn_history.csv e images/cnn_training_curves.png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Jenaro. 60 segundos.</a:t>
            </a:r>
          </a:p>
          <a:p xmlns:a="http://schemas.openxmlformats.org/drawingml/2006/main">
            <a:r>
              <a:t>Los mapas de características muestran que las primeras capas reaccionan a bordes y siluetas. Las capas profundas retienen patrones más abstractos. Grad-CAM marca las zonas que más influyeron en una predicción. En estos ejemplos la atención cae principalmente sobre la mano, pero el mapa es aproximado y no demuestra causalidad.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images/cnn_feature_maps.png e images/cnn_gradcam_examples.png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Jason. 60 segundos.</a:t>
            </a:r>
          </a:p>
          <a:p xmlns:a="http://schemas.openxmlformats.org/drawingml/2006/main">
            <a:r>
              <a:t>En el test oficial, la CNN alcanzó 96,60% de accuracy, 0,9604 de precision macro, 0,9616 de recall macro y 0,9595 de F1 macro. Reportamos F1 macro porque calcula el resultado por clase y les da el mismo peso, evitando que una clase con más ejemplos domine la evaluación. La diagonal fuerte de la matriz muestra que la mayoría de las predicciones son correctas.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reports/cnn_metrics.json e images/cnn_confusion_matrix.png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Jason. 75 segundos.</a:t>
            </a:r>
          </a:p>
          <a:p xmlns:a="http://schemas.openxmlformats.org/drawingml/2006/main">
            <a:r>
              <a:t>El MLP obtuvo 79,71% de accuracy de test y la CNN 96,60%, una mejora de 16,89 puntos porcentuales. El F1 macro subió de 0,7760 a 0,9595. La CNN usa 243.352 parámetros frente a 569.240 del MLP, 57,25% menos. Su costo es aproximadamente 10 segundos adicionales de entrenamiento. La brecha validación-test baja de 20,29 a 3,40 puntos, por lo que generaliza mucho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reports/mlp_cnn_comparison.csv y reports/cnn_metrics.json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Jason. 60 segundos.</a:t>
            </a:r>
          </a:p>
          <a:p xmlns:a="http://schemas.openxmlformats.org/drawingml/2006/main">
            <a:r>
              <a:t>Los errores más frecuentes son T con X, G con Q y X con T. T es la clase con menor F1, seguida por X y R. Estas señas comparten formas o posiciones de dedos parecidas, por lo que pequeñas diferencias visuales pueden cambiar la clase. Los ejemplos permiten revisar casos concretos, no solo un promedio.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reports/cnn_classification_report.txt, reports/cnn_metrics.json e images/cnn_incorrect_examples.png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Jason. 50 segundos.</a:t>
            </a:r>
          </a:p>
          <a:p xmlns:a="http://schemas.openxmlformats.org/drawingml/2006/main">
            <a:r>
              <a:t>Concluimos que la CNN es más adecuada porque conserva la estructura espacial, comparte filtros y aprende patrones locales. Mejoró fuertemente el rendimiento y la generalización usando menos parámetros, aunque tardó algo más en entrenar. La principal limitación es que solo reconoce letras estáticas. Como siguiente paso proponemos data augmentation, Batch Normalization y evaluación con imágenes externas.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INFORME_TECNICO_EP2.md y reports/cnn_metrics.json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cb6c1735b4b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01daf045e4e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7412ce9dc42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58e9362d243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b197b264d49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50e06031244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D43AD6-F5F8-4B65-A409-164C07052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8B1D9A-16D7-46F4-81BA-C120019220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5822C6-50C0-458F-8E23-5FF6398986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ABDE50-7014-4AE1-AC4D-19AE36946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5CDDEB-091E-4D44-B821-F08F7CA13F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43357B-CC19-4452-85D5-4B66BCF507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636B71-192B-4CE8-BB9B-05D28D659E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F44569-F286-4ED3-BACD-31D9B99C6F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D62547-AFCE-4301-BA62-08B153AD7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F9E21A-9C68-4176-AB65-47EF295EE0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8144be705c49fb" /><Relationship Type="http://schemas.openxmlformats.org/officeDocument/2006/relationships/slideLayout" Target="/ppt/slideLayouts/slideLayout1.xml" Id="Rc329850a4720445e" /><Relationship Type="http://schemas.openxmlformats.org/officeDocument/2006/relationships/slideLayout" Target="/ppt/slideLayouts/slideLayout2.xml" Id="R9537d23e761b4bda" /><Relationship Type="http://schemas.openxmlformats.org/officeDocument/2006/relationships/slideLayout" Target="/ppt/slideLayouts/slideLayout3.xml" Id="R19e835686b3f4e36" /><Relationship Type="http://schemas.openxmlformats.org/officeDocument/2006/relationships/slideLayout" Target="/ppt/slideLayouts/slideLayout4.xml" Id="R7e9ae8918fd24bd4" /><Relationship Type="http://schemas.openxmlformats.org/officeDocument/2006/relationships/slideLayout" Target="/ppt/slideLayouts/slideLayout5.xml" Id="R93f53d45171445b9" /><Relationship Type="http://schemas.openxmlformats.org/officeDocument/2006/relationships/slideLayout" Target="/ppt/slideLayouts/slideLayout6.xml" Id="R34b12a2e1a984a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29850a4720445e"/>
    <p:sldLayoutId xmlns:r="http://schemas.openxmlformats.org/officeDocument/2006/relationships" id="2147483650" r:id="R9537d23e761b4bda"/>
    <p:sldLayoutId xmlns:r="http://schemas.openxmlformats.org/officeDocument/2006/relationships" id="2147483651" r:id="R19e835686b3f4e36"/>
    <p:sldLayoutId xmlns:r="http://schemas.openxmlformats.org/officeDocument/2006/relationships" id="2147483652" r:id="R7e9ae8918fd24bd4"/>
    <p:sldLayoutId xmlns:r="http://schemas.openxmlformats.org/officeDocument/2006/relationships" id="2147483653" r:id="R93f53d45171445b9"/>
    <p:sldLayoutId xmlns:r="http://schemas.openxmlformats.org/officeDocument/2006/relationships" id="2147483654" r:id="R34b12a2e1a984a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703b2fbbd45a3" /><Relationship Type="http://schemas.openxmlformats.org/officeDocument/2006/relationships/image" Target="/ppt/media/image.png" Id="R3772c06fdd0e4774" /><Relationship Type="http://schemas.openxmlformats.org/officeDocument/2006/relationships/notesSlide" Target="/ppt/notesSlides/notesSlide1.xml" Id="R1feffd184d1948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79f985ed241a6" /><Relationship Type="http://schemas.openxmlformats.org/officeDocument/2006/relationships/notesSlide" Target="/ppt/notesSlides/notesSlide2.xml" Id="Rc469c1afd43a42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d49a5ce4b4df5" /><Relationship Type="http://schemas.openxmlformats.org/officeDocument/2006/relationships/notesSlide" Target="/ppt/notesSlides/notesSlide3.xml" Id="R8b7fd64f743c4d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84090b0d74d27" /><Relationship Type="http://schemas.openxmlformats.org/officeDocument/2006/relationships/notesSlide" Target="/ppt/notesSlides/notesSlide4.xml" Id="Rde0624f9d10a47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5217f41624f1f" /><Relationship Type="http://schemas.openxmlformats.org/officeDocument/2006/relationships/image" Target="/ppt/media/image2.png" Id="Rbaa982961a304481" /><Relationship Type="http://schemas.openxmlformats.org/officeDocument/2006/relationships/notesSlide" Target="/ppt/notesSlides/notesSlide5.xml" Id="Rb6cacaa830854f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6fa7a92a84076" /><Relationship Type="http://schemas.openxmlformats.org/officeDocument/2006/relationships/image" Target="/ppt/media/image3.png" Id="Rb5710d7498914ad3" /><Relationship Type="http://schemas.openxmlformats.org/officeDocument/2006/relationships/image" Target="/ppt/media/image4.png" Id="R4d0088472051417e" /><Relationship Type="http://schemas.openxmlformats.org/officeDocument/2006/relationships/notesSlide" Target="/ppt/notesSlides/notesSlide6.xml" Id="R4bc6a6adea084e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44d80564e4140" /><Relationship Type="http://schemas.openxmlformats.org/officeDocument/2006/relationships/image" Target="/ppt/media/image5.png" Id="Re694ee3e95f742fd" /><Relationship Type="http://schemas.openxmlformats.org/officeDocument/2006/relationships/notesSlide" Target="/ppt/notesSlides/notesSlide7.xml" Id="R168d5ebd806d47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a0c3fef5d48f1" /><Relationship Type="http://schemas.openxmlformats.org/officeDocument/2006/relationships/chart" Target="/ppt/slides/charts/chart1.xml" Id="Rfee5a25c1ebd4dea" /><Relationship Type="http://schemas.openxmlformats.org/officeDocument/2006/relationships/notesSlide" Target="/ppt/notesSlides/notesSlide8.xml" Id="Re268942f36174c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a44a56b3d46e4" /><Relationship Type="http://schemas.openxmlformats.org/officeDocument/2006/relationships/image" Target="/ppt/media/image6.png" Id="R9741586573564930" /><Relationship Type="http://schemas.openxmlformats.org/officeDocument/2006/relationships/notesSlide" Target="/ppt/notesSlides/notesSlide9.xml" Id="R6a77e43bfbc24a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0438ff38d6449c" /><Relationship Type="http://schemas.openxmlformats.org/officeDocument/2006/relationships/notesSlide" Target="/ppt/notesSlides/notesSlide10.xml" Id="R08ec33c6683c477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 test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MLP EP1</c:v>
                </c:pt>
                <c:pt idx="1">
                  <c:v>CNN EP2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79.71</c:v>
                </c:pt>
                <c:pt idx="1">
                  <c:v>96.6</c:v>
                </c:pt>
              </c:numCache>
            </c:numRef>
          </c:val>
        </c:ser>
        <c:ser>
          <c:idx val="1"/>
          <c:order val="1"/>
          <c:tx>
            <c:v>F1 macro test</c:v>
          </c:tx>
          <c:spPr>
            <a:solidFill xmlns:a="http://schemas.openxmlformats.org/drawingml/2006/main">
              <a:srgbClr val="17324D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MLP EP1</c:v>
                </c:pt>
                <c:pt idx="1">
                  <c:v>CNN EP2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77.6</c:v>
                </c:pt>
                <c:pt idx="1">
                  <c:v>95.95</c:v>
                </c:pt>
              </c:numCache>
            </c:numRef>
          </c:val>
        </c:ser>
        <c:dLbls>
          <c:numFmt formatCode="0.0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32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9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4E5C6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B79D3-46A7-4721-96B0-B6435D6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Sign Language</a:t>
            </a:r>
          </a:p>
          <a:p xmlns:a="http://schemas.openxmlformats.org/drawingml/2006/main">
            <a: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MNIST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59C2C-5153-49BC-9DE8-DD804E95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Clasificación con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709C3-7D58-4F09-975B-55C330F8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Continuidad y comparación con el MLP de la EP1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8D848-FF71-4C44-945A-B2976EA0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Gonzalo Castillo · Jenaro Marin · Jason Aguilera</a:t>
            </a:r>
          </a:p>
          <a:p xmlns:a="http://schemas.openxmlformats.org/drawingml/2006/main">
            <a:pPr algn="l">
              <a:defRPr sz="16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TLY1102 · Evaluación Parcial 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6B760-F9BD-4FF1-AA46-F0BF0DC3CA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2c06fdd0e4774"/>
          <a:stretch xmlns:a="http://schemas.openxmlformats.org/drawingml/2006/main"/>
        </p:blipFill>
        <p:spPr>
          <a:xfrm xmlns:a="http://schemas.openxmlformats.org/drawingml/2006/main">
            <a:off x="6762750" y="1480785"/>
            <a:ext cx="4810125" cy="35630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41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56531-D9AA-4340-9F15-3D49661A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Continuidad EP1 → EP2: cambia el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FA56-60C9-46E8-874B-EC348ABD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BE22D-E703-438C-B36F-5AA13489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000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CC061-17B1-4C00-AFC9-90BE70DA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MLP · EP1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63FD7-FF05-4A3E-A421-98A09547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3771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Entrada: vector de 784 valores</a:t>
            </a:r>
          </a:p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Conexiones densas globales</a:t>
            </a:r>
          </a:p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569.240 parámetros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43735-1CBE-446B-8A11-7D52A61F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1428750" cy="647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181C5-1031-4728-B9A2-B76343C3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misma tarea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9CCC7-10D9-42AD-B0FE-57C2C771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000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18D29-82F9-4B84-AFB4-1C8544B9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47825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CNN · EP2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33488-27D6-4826-97E4-89666FCB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19300"/>
            <a:ext cx="3771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Entrada: tensor 28 × 28 × 1</a:t>
            </a:r>
          </a:p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Filtros locales + pooling</a:t>
            </a:r>
          </a:p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243.352 parámetros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EB380-D2C1-44BD-990C-A1C1F0B4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 mantiene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484A0-8804-4CE6-B0B3-0822B78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Dataset, 24 clases, particiones y semilla 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ED4C2-FBB0-431E-9B47-C87A283C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29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 adapta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74A67-341E-426E-A18D-EB81A086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76800"/>
            <a:ext cx="481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Formato de entrada y arquitectura para aprovechar la estructura espacial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C9CAA-7266-4173-98DF-EC67B9F0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E5C68"/>
                </a:solidFill>
                <a:latin typeface="Arial"/>
                <a:ea typeface="Arial"/>
                <a:cs typeface="Arial"/>
              </a:rPr>
              <a:t>No se repite la limpieza de la EP1: se reutilizan los datos ya validados.</a:t>
            </a:r>
          </a:p>
        </p:txBody>
      </p:sp>
    </p:spTree>
    <p:extLst>
      <p:ext uri="{BB962C8B-B14F-4D97-AF65-F5344CB8AC3E}">
        <p14:creationId xmlns:p14="http://schemas.microsoft.com/office/powerpoint/2010/main" val="1560982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AED93-9780-4E02-B058-F3EA0574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Preparación específica para la CNN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35E4E-B532-4F9B-A19E-D7F22EE3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9FDEB-F8E1-4D9B-BD96-B6C8D1D2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8D49A-D217-4113-87B7-E107367C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50F5F-05D4-4D64-B99D-F397C5DC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86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label + 784 píxeles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3400B-204D-4108-8FFE-4606A7C4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71675"/>
            <a:ext cx="457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74DF3-769B-4DA5-BD61-95DD51E8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3C8FD-2448-44D8-88AE-F6299B6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6478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Normalizar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A3A71-04FA-4439-8BBF-FCB36D32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19300"/>
            <a:ext cx="186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píxel / 255</a:t>
            </a:r>
          </a:p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0-255 → 0-1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FDDCD-148C-4FD6-B19F-D2E1F1EF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971675"/>
            <a:ext cx="457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35D6D-DEA8-49DF-AAC7-99D37792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71625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CFD5C-0773-41B9-9328-B620D5AF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4782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Reconstruir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E65D1-D4E4-41CA-95A0-D6AB6C59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2057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tensor 28 × 28 ×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92E35-135D-4F35-B7F5-C7F68481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71675"/>
            <a:ext cx="457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5E27C-1D87-484A-A372-23D65206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571625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53C19-526D-475C-920B-83A1CA39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6478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Entrar a CNN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D7250-D8CC-4F8F-A4A5-BB9EA1FE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019300"/>
            <a:ext cx="1866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conservar vecindad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31879-EB35-4784-A7D2-F696909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Particiones estratificadas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06FBA-4B09-4CF0-A90E-47E59C2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21.964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28720-0F60-4A57-A367-F113D7FF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entrenamiento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2760D-6127-40CA-8C33-94469D8A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52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5.491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2924C-BEB0-4186-B5D8-DD495B1B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10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CE26F1-74C3-4C26-8844-6369C0AA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52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7.172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33A1A0-5677-440B-9BA9-947FAB78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0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test oficial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887EE-A97A-4669-A121-89F9C171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Adaptación EP2: cambiar el formato, no volver a limpiar. El test sigue separado.</a:t>
            </a:r>
          </a:p>
        </p:txBody>
      </p:sp>
    </p:spTree>
    <p:extLst>
      <p:ext uri="{BB962C8B-B14F-4D97-AF65-F5344CB8AC3E}">
        <p14:creationId xmlns:p14="http://schemas.microsoft.com/office/powerpoint/2010/main" val="1325095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30F363-BDD6-4A1F-B625-92B27DDC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Arquitectura: aprender patrones espaciales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C2A52-CCF6-4622-9F92-71A09FA0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6EEBD-20EA-43E7-A8F3-B4115210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C8F23-13FE-4387-9805-5155BB7E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3866F-E67E-4445-9FF9-A9C52321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485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28×28×1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F9593-2C86-490B-AF37-99B64C47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2667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0F51D-8009-489F-A09E-92DA2486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66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8B7DF-D06F-460C-BF82-47634F26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430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Conv + Pool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7148B-4994-4F5E-88CF-1574EE6C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14550"/>
            <a:ext cx="158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32 filtros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D9ACA-F177-4D45-A7C6-9D9203C9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28825"/>
            <a:ext cx="2667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25FE0-EE3E-4270-8B68-DC8E089A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66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854B2-34C4-440A-B931-87F827CC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430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Conv + Pool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7282E-F235-4237-92B1-5A3DDE5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14550"/>
            <a:ext cx="158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64 filtros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B109C-EF8F-44EC-BECC-65198763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28825"/>
            <a:ext cx="2667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147AE-8D59-4A18-96DC-38022DBC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66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5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1A389-345A-4344-AB4A-3FB5AB45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430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Conv + Pool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9D6E9-0638-4EC5-9162-32C7FAF6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158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128 filtros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510B6-5AA7-4C3B-92BE-17027ADD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28825"/>
            <a:ext cx="2667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61775-0909-4119-A12C-6456C76E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668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563BA-6F2A-414E-8B95-5377F251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4307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Clasificador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AF635-91C2-48A9-9FF1-7277DA4F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2152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Dense 128 → 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9B52B-3756-42C7-AE14-6FF609A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71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3 ×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8DB35-DF6D-46B4-952E-749222A6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71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3 ×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B0AF3-7C75-4CA6-A565-2F083DD9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71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3 ×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E4EF8-48C5-40CA-A2E9-EC06F672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Convolución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B218E-1F19-4D9C-84CA-F8AF7B79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Detecta bordes, contornos y combinaciones locales usando filtros compartidos.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253CEC-E73E-4F14-9096-B28743FA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Pooling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5B637-C3F5-44F2-A051-41A498A7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957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Reduce el tamaño espacial y conserva las activaciones más importantes.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8EB9AB-4D3D-464B-B142-BFD9B759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5505E5-9FD4-462D-9915-9267E756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957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Entrega 24 probabilidades que suman 1; elegimos la mayor.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B16A3-E343-433F-BDF0-43CDDFA4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Total: 243.352 parámetros entrenables</a:t>
            </a:r>
          </a:p>
        </p:txBody>
      </p:sp>
    </p:spTree>
    <p:extLst>
      <p:ext uri="{BB962C8B-B14F-4D97-AF65-F5344CB8AC3E}">
        <p14:creationId xmlns:p14="http://schemas.microsoft.com/office/powerpoint/2010/main" val="56622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71F43-02A4-4CC9-BBF6-D0C852B0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Entrenamiento y control del sobreajuste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1E86A-D63E-4F6E-AC53-F9BD2AD0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EC092-1A64-429A-8145-559E9641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Configuración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5D0AD-31BD-4942-8DE4-08F4CAA8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Optimizador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5BFDA-4E0A-4524-A9BC-5EFFEA56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478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Adam · 0,001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5B62A-695B-42D1-BC85-8EF5085B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Pérdida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20F66-5A15-4DFC-B686-19A0B343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003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Sparse categorical crossentropy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70566-8EB3-4261-B7F3-5439846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AC7AA-BB74-4E6D-960E-DEFEFF06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527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128 imágenes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B70C9-1379-43A2-A346-0E6B266D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Presupuesto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B5393-07FF-4800-A6D2-814C393A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052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hasta 20 épocas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B366C-B677-4917-9110-D7756A44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Semilla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917C9-C127-41B7-87A8-9F24B895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576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8F6A6-85E8-4A62-98CD-1AEDEDDC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Dropout 0,25 / 0,40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DD737-06A8-41FB-AAD9-2E470B35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EarlyStopping + ReduceLROnPlateau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018F2-9AF2-4830-BB6B-68DF356DCB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982961a304481"/>
          <a:stretch xmlns:a="http://schemas.openxmlformats.org/drawingml/2006/main"/>
        </p:blipFill>
        <p:spPr>
          <a:xfrm xmlns:a="http://schemas.openxmlformats.org/drawingml/2006/main">
            <a:off x="5572125" y="2605627"/>
            <a:ext cx="5905500" cy="1932497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15BA2-C8D9-4A18-A748-F5C1F20E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8293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 épocas · 41,41 s · 100% accuracy de validación</a:t>
            </a:r>
          </a:p>
        </p:txBody>
      </p:sp>
    </p:spTree>
    <p:extLst>
      <p:ext uri="{BB962C8B-B14F-4D97-AF65-F5344CB8AC3E}">
        <p14:creationId xmlns:p14="http://schemas.microsoft.com/office/powerpoint/2010/main" val="1392106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FBC78-D227-463B-B449-CB94FF3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Qué aprende la CNN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CBF01-CFCC-4AB5-A1E1-EAC26032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4AB0C-808E-4C0E-B93D-7CD8E7FD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Mapas de características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9DF86-E890-4B4F-84C9-A65707D3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76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Grad-CAM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5D823-A554-4C1E-B9A2-E0A5D5ECB3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10d7498914ad3"/>
          <a:stretch xmlns:a="http://schemas.openxmlformats.org/drawingml/2006/main"/>
        </p:blipFill>
        <p:spPr>
          <a:xfrm xmlns:a="http://schemas.openxmlformats.org/drawingml/2006/main">
            <a:off x="514350" y="2458218"/>
            <a:ext cx="5524500" cy="2265413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80C24-140A-487F-B389-BAB2291CB1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088472051417e"/>
          <a:stretch xmlns:a="http://schemas.openxmlformats.org/drawingml/2006/main"/>
        </p:blipFill>
        <p:spPr>
          <a:xfrm xmlns:a="http://schemas.openxmlformats.org/drawingml/2006/main">
            <a:off x="8328376" y="1733550"/>
            <a:ext cx="1231198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AA046-24DB-46DD-8BD1-0DFC43AD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19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Capas iniciales: bordes y siluetas. Capas profundas: patrones más abstractos.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276D6-3082-47C9-9A90-AF497BA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626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El calor se concentra principalmente en la mano; es una explicación aproximada.</a:t>
            </a:r>
          </a:p>
        </p:txBody>
      </p:sp>
    </p:spTree>
    <p:extLst>
      <p:ext uri="{BB962C8B-B14F-4D97-AF65-F5344CB8AC3E}">
        <p14:creationId xmlns:p14="http://schemas.microsoft.com/office/powerpoint/2010/main" val="1066894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E2544-E2BD-4D7F-BB31-749FD57E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Evaluación final sobre 7.172 imágenes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68884-93C4-4DEF-915C-BE68C543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1BF14-83AE-4867-B4BC-6B413104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96,60%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D73CD-E66F-4893-8EC2-2E382692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Accuracy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97CC0-EF5E-40C2-947A-E6F6949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0,9604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E1829-084B-4EBE-8747-5DA5523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Precision macro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52AE3-5661-43DC-B118-CD25F3E6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0,9616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AEDD2-D2BE-4D05-A3FA-776B612F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Recall macro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965AF-20BA-4B75-A409-1E4B56C2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0,9595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641CA-B9F4-4E39-BA2F-E25D2D1C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F1 macro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6B3A1-3706-4C72-8D5E-CA2B87AE5A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4ee3e95f742fd"/>
          <a:stretch xmlns:a="http://schemas.openxmlformats.org/drawingml/2006/main"/>
        </p:blipFill>
        <p:spPr>
          <a:xfrm xmlns:a="http://schemas.openxmlformats.org/drawingml/2006/main">
            <a:off x="4486284" y="1190625"/>
            <a:ext cx="6172181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161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FB5E4-7DC1-4B01-B003-B0C8C4CA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CNN versus MLP: misma tarea, mejor generalización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E054D-FFC3-427F-B2B9-BBBCD1F6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5772FE4-C47A-494B-ACB0-4326733BD9FD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67151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e5a25c1ebd4de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9CDF9-A96A-4BD7-AE76-B434B68E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+16,89 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14133-0457-4897-9830-9883E7D9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33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accuracy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9EC1D-FBE2-43CE-833C-63718979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−57,25%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B88CD-7CB3-4198-B185-B5BC1503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147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parámetros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59DD6-0057-46D6-B69C-67ACB106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3862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3,40 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B2721-2184-46F6-82B5-F8B83B88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95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brecha validación-test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54EA5-B495-4504-B854-1C28D49A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388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Tiempo: CNN 41,41 s · MLP 31,50 s</a:t>
            </a:r>
          </a:p>
        </p:txBody>
      </p:sp>
    </p:spTree>
    <p:extLst>
      <p:ext uri="{BB962C8B-B14F-4D97-AF65-F5344CB8AC3E}">
        <p14:creationId xmlns:p14="http://schemas.microsoft.com/office/powerpoint/2010/main" val="1907578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1D21B-2FBB-4AAC-AAD7-C6B3D0D4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Dónde se equivoca la CNN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EEF7C-58F3-4899-844F-367F0EDD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9F2A6-8660-40EA-BE5A-7BE8A06A9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1586573564930"/>
          <a:stretch xmlns:a="http://schemas.openxmlformats.org/drawingml/2006/main"/>
        </p:blipFill>
        <p:spPr>
          <a:xfrm xmlns:a="http://schemas.openxmlformats.org/drawingml/2006/main">
            <a:off x="1831628" y="1285875"/>
            <a:ext cx="4328218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905AE-23D9-4A67-8384-A8271090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Confusiones frecuentes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A865E-BAEE-440F-AFE5-FC1E44A3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 → X: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95AF3-398C-4BEB-B411-5CC84908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527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 → Q: 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9295B-810E-438A-B34B-99DDD61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28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X → T: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7A4D3-FF9F-4B61-9725-D27D9491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05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 → E: 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8C458-FB11-4D18-9BC5-8835CB45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81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 → L: 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7D4C-FE9A-40A7-BFB0-08DEF115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19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Menor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932F5-D854-4FDD-864D-04DE738A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 0,7745 · X 0,8586 · R 0,8723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AD15C-519A-4CF3-95F1-1A734A90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Las formas y posiciones de dedos similares explican parte de la dificultad.</a:t>
            </a:r>
          </a:p>
        </p:txBody>
      </p:sp>
    </p:spTree>
    <p:extLst>
      <p:ext uri="{BB962C8B-B14F-4D97-AF65-F5344CB8AC3E}">
        <p14:creationId xmlns:p14="http://schemas.microsoft.com/office/powerpoint/2010/main" val="2125136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E7B50-9759-4DC8-B258-90E47128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Conclusión: la estructura espacial sí importa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D3488-F602-4C92-BA7D-0D0C213B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B07D6-5EF0-42D6-8943-29DA9943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96,60%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77E63-2DD7-44D7-9EF9-9E53F929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accuracy de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A9F26-AD39-4A0D-A854-B81ED4E7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Mejor generalización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79F7C-473A-4BF9-B9E6-6B70E780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La brecha validación-test cae de 20,29 a 3,40 puntos porcentuales.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18C18-1AE5-4827-9ABF-FC2F3A46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Menos parámetros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30A11-48B4-4E71-A3BC-03EA661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La CNN usa 243.352 parámetros: 57,25% menos que el MLP.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2CB0C-E667-420D-92EB-8D1F9271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Próximo experimento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40B3E-E583-43BA-A579-E21C6903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Data augmentation, Batch Normalization y validación con imágenes externas.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1E7C5-B97B-4FB9-A78D-8BBE094C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E5C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5C68"/>
                </a:solidFill>
                <a:latin typeface="Arial"/>
                <a:ea typeface="Arial"/>
                <a:cs typeface="Arial"/>
              </a:rPr>
              <a:t>Limitación: reconoce letras estáticas; no J, Z ni secuencias de video.</a:t>
            </a:r>
          </a:p>
        </p:txBody>
      </p:sp>
    </p:spTree>
    <p:extLst>
      <p:ext uri="{BB962C8B-B14F-4D97-AF65-F5344CB8AC3E}">
        <p14:creationId xmlns:p14="http://schemas.microsoft.com/office/powerpoint/2010/main" val="1237155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2026-10-18T00:54:51.6290000Z</dcterms:created>
  <dcterms:modified xsi:type="dcterms:W3CDTF">2026-10-18T00:54:51.6290000Z</dcterms:modified>
</coreProperties>
</file>