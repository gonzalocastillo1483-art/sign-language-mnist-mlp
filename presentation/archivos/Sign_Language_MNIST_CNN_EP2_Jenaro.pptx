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1aa10d67e84508" /><Relationship Type="http://schemas.openxmlformats.org/officeDocument/2006/relationships/extended-properties" Target="/docProps/app.xml" Id="Rc409742a5fa74ce1" /><Relationship Type="http://schemas.openxmlformats.org/officeDocument/2006/relationships/officeDocument" Target="/ppt/presentation.xml" Id="Rb2d5cb85a1d640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2d2f8c02e4060"/>
  </p:sldMasterIdLst>
  <p:notesMasterIdLst>
    <p:notesMasterId xmlns:r="http://schemas.openxmlformats.org/officeDocument/2006/relationships" r:id="R151a1f1e11324ef3"/>
  </p:notesMasterIdLst>
  <p:sldIdLst>
    <p:sldId xmlns:r="http://schemas.openxmlformats.org/officeDocument/2006/relationships" id="256" r:id="Re9ba9e694de74744"/>
    <p:sldId xmlns:r="http://schemas.openxmlformats.org/officeDocument/2006/relationships" id="257" r:id="R4fd5e250d2db4cd9"/>
    <p:sldId xmlns:r="http://schemas.openxmlformats.org/officeDocument/2006/relationships" id="258" r:id="Rcc7677dbf9064f12"/>
    <p:sldId xmlns:r="http://schemas.openxmlformats.org/officeDocument/2006/relationships" id="259" r:id="Rb73464f90ebf47a6"/>
    <p:sldId xmlns:r="http://schemas.openxmlformats.org/officeDocument/2006/relationships" id="260" r:id="Rcf2ebd3a25ee4299"/>
    <p:sldId xmlns:r="http://schemas.openxmlformats.org/officeDocument/2006/relationships" id="261" r:id="R923aef2d41e24268"/>
    <p:sldId xmlns:r="http://schemas.openxmlformats.org/officeDocument/2006/relationships" id="262" r:id="R77a73ff73d244967"/>
    <p:sldId xmlns:r="http://schemas.openxmlformats.org/officeDocument/2006/relationships" id="263" r:id="R5bf540af11604e0b"/>
    <p:sldId xmlns:r="http://schemas.openxmlformats.org/officeDocument/2006/relationships" id="264" r:id="Rc9d87da2f7bc4409"/>
    <p:sldId xmlns:r="http://schemas.openxmlformats.org/officeDocument/2006/relationships" id="265" r:id="R1c31e984d5ba43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88f209b89f4237" /><Relationship Type="http://schemas.openxmlformats.org/officeDocument/2006/relationships/slideMaster" Target="/ppt/slideMasters/slideMaster1.xml" Id="R64f2d2f8c02e4060" /><Relationship Type="http://schemas.openxmlformats.org/officeDocument/2006/relationships/notesMaster" Target="/ppt/notesMasters/notesMaster1.xml" Id="R151a1f1e11324ef3" /><Relationship Type="http://schemas.openxmlformats.org/officeDocument/2006/relationships/presProps" Target="/ppt/presProps.xml" Id="Re199f92f052f455b" /><Relationship Type="http://schemas.openxmlformats.org/officeDocument/2006/relationships/tableStyles" Target="/ppt/tableStyles.xml" Id="R51b4c5d361124e14" /><Relationship Type="http://schemas.openxmlformats.org/officeDocument/2006/relationships/slide" Target="/ppt/slides/slide1.xml" Id="Re9ba9e694de74744" /><Relationship Type="http://schemas.openxmlformats.org/officeDocument/2006/relationships/slide" Target="/ppt/slides/slide2.xml" Id="R4fd5e250d2db4cd9" /><Relationship Type="http://schemas.openxmlformats.org/officeDocument/2006/relationships/slide" Target="/ppt/slides/slide3.xml" Id="Rcc7677dbf9064f12" /><Relationship Type="http://schemas.openxmlformats.org/officeDocument/2006/relationships/slide" Target="/ppt/slides/slide4.xml" Id="Rb73464f90ebf47a6" /><Relationship Type="http://schemas.openxmlformats.org/officeDocument/2006/relationships/slide" Target="/ppt/slides/slide5.xml" Id="Rcf2ebd3a25ee4299" /><Relationship Type="http://schemas.openxmlformats.org/officeDocument/2006/relationships/slide" Target="/ppt/slides/slide6.xml" Id="R923aef2d41e24268" /><Relationship Type="http://schemas.openxmlformats.org/officeDocument/2006/relationships/slide" Target="/ppt/slides/slide7.xml" Id="R77a73ff73d244967" /><Relationship Type="http://schemas.openxmlformats.org/officeDocument/2006/relationships/slide" Target="/ppt/slides/slide8.xml" Id="R5bf540af11604e0b" /><Relationship Type="http://schemas.openxmlformats.org/officeDocument/2006/relationships/slide" Target="/ppt/slides/slide9.xml" Id="Rc9d87da2f7bc4409" /><Relationship Type="http://schemas.openxmlformats.org/officeDocument/2006/relationships/slide" Target="/ppt/slides/slide10.xml" Id="R1c31e984d5ba43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d4e1c680a344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f18d090ad24724" /><Relationship Type="http://schemas.openxmlformats.org/officeDocument/2006/relationships/notesMaster" Target="/ppt/notesMasters/notesMaster1.xml" Id="Redaec8972b1a4e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3648d1e2644dd3" /><Relationship Type="http://schemas.openxmlformats.org/officeDocument/2006/relationships/notesMaster" Target="/ppt/notesMasters/notesMaster1.xml" Id="R2b00ebc3051943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720adb7b574d4c" /><Relationship Type="http://schemas.openxmlformats.org/officeDocument/2006/relationships/notesMaster" Target="/ppt/notesMasters/notesMaster1.xml" Id="R2dfb0ad5528546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5c60c1a41c4611" /><Relationship Type="http://schemas.openxmlformats.org/officeDocument/2006/relationships/notesMaster" Target="/ppt/notesMasters/notesMaster1.xml" Id="Rcc21ef0f13ca40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35f5c3df3d4752" /><Relationship Type="http://schemas.openxmlformats.org/officeDocument/2006/relationships/notesMaster" Target="/ppt/notesMasters/notesMaster1.xml" Id="R7e5c435526934a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3dd43158984277" /><Relationship Type="http://schemas.openxmlformats.org/officeDocument/2006/relationships/notesMaster" Target="/ppt/notesMasters/notesMaster1.xml" Id="Rfe09f67e69424b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e5790a411a4576" /><Relationship Type="http://schemas.openxmlformats.org/officeDocument/2006/relationships/notesMaster" Target="/ppt/notesMasters/notesMaster1.xml" Id="R9802cd69200f4d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a1752e87284f85" /><Relationship Type="http://schemas.openxmlformats.org/officeDocument/2006/relationships/notesMaster" Target="/ppt/notesMasters/notesMaster1.xml" Id="R275fe960774249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dd307751e445b1" /><Relationship Type="http://schemas.openxmlformats.org/officeDocument/2006/relationships/notesMaster" Target="/ppt/notesMasters/notesMaster1.xml" Id="Ref36c93c54a544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bf0db67e08484b" /><Relationship Type="http://schemas.openxmlformats.org/officeDocument/2006/relationships/notesMaster" Target="/ppt/notesMasters/notesMaster1.xml" Id="Rf1577901a473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Gonzalo. 00:00-00:35 (35 segundos).</a:t>
            </a:r>
          </a:p>
          <a:p xmlns:a="http://schemas.openxmlformats.org/drawingml/2006/main">
            <a:r>
              <a:t>En la EP1 construimos un MLP para clasificar 24 letras estáticas del alfabeto ASL. En esta evaluación mantenemos el mismo problema, dataset y particiones, pero reemplazamos el MLP por una CNN para comparar objetivamente qué aporta una arquitectura diseñada para imágenes.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images/gonzalo_sample_grid.png e INFORME_TECNICO_EP2.md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Gonzalo. 00:35-01:30 (55 segundos).</a:t>
            </a:r>
          </a:p>
          <a:p xmlns:a="http://schemas.openxmlformats.org/drawingml/2006/main">
            <a:r>
              <a:t>No repetimos la limpieza de la EP1. Reutilizamos el mismo dataset ya validado, las mismas 24 clases, las mismas particiones y la semilla 42. Así la comparación es objetiva. Lo que cambia es el modelo: el MLP recibe un vector plano de 784 valores y la CNN recibe un tensor de 28 por 28 por 1 para aprovechar la estructura espacial.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README.md, src/sign_mlp/data.py y reports/mlp_cnn_comparison.csv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Gonzalo. 01:30-02:30 (60 segundos). Cambio a Jenaro: 02:30-02:40.</a:t>
            </a:r>
          </a:p>
          <a:p xmlns:a="http://schemas.openxmlformats.org/drawingml/2006/main">
            <a:r>
              <a:t>Cada fila del CSV tiene 784 valores porque 28 por 28 es 784. Para la CNN reconstruimos la imagen como un tensor de 28 por 28 por 1: alto, ancho y un canal de gris. Dividimos los píxeles por 255 porque es la intensidad máxima de 8 bits y así el rango queda entre 0 y 1. Esta es la adaptación principal de datos de la EP2, no una nueva limpieza. Conservamos 21.964 imágenes para entrenar, 5.491 para validar y 7.172 para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src/sign_mlp/data.py y reports/gonzalo_preprocessing_summary.md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Jenaro. 02:40-03:45 (65 segundos).</a:t>
            </a:r>
          </a:p>
          <a:p xmlns:a="http://schemas.openxmlformats.org/drawingml/2006/main">
            <a:r>
              <a:t>La entrada conserva la imagen de 28 por 28 con un canal de gris. La red tiene tres bloques de convolución, ReLU y max pooling. Los filtros de 3 por 3 comparten pesos y buscan patrones locales. ReLU conserva valores positivos y agrega no linealidad para aprender relaciones que una transformación lineal no representa. Con padding same, la convolución conserva alto y ancho. El pooling de 2 por 2 los reduce: obtenemos 14 por 14 por 32, después 7 por 7 por 64 y finalmente 3 por 3 por 128. Flatten convierte esas 1.152 activaciones en un vector. Dense de 128 integra las características y softmax produce las 24 probabilidades. Hay 243.352 parámetros entrenables.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src/sign_mlp/cnn.py y reports/cnn_model_summary.txt. Dimensiones después de cada pooling.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Jenaro. 03:45-04:50 (65 segundos).</a:t>
            </a:r>
          </a:p>
          <a:p xmlns:a="http://schemas.openxmlformats.org/drawingml/2006/main">
            <a:r>
              <a:t>Entrenamos con Adam y learning rate inicial de 0,001. Adam adapta las actualizaciones de cada parámetro usando estimaciones de los gradientes. Cada batch reúne 128 imágenes y el presupuesto es de hasta 20 épocas, con semilla 42. Usamos sparse categorical crossentropy porque cada imagen tiene una sola clase y las etiquetas son enteros de 0 a 23, sin codificación one-hot. Dropout descarta temporalmente un 25% o 40% de las activaciones durante el entrenamiento y ayuda a reducir el sobreajuste. Ambos callbacks observan val_loss. EarlyStopping espera cuatro épocas sin mejora y restaura los mejores pesos. ReduceLROnPlateau espera dos épocas y reduce la tasa a la mitad, hasta un mínimo de 0,00001. La corrida original completó 20 épocas en 41,41 segundos y alcanzó 100% de accuracy de validación. El test independiente permite evaluar cuánto generaliza.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src/sign_mlp/cnn.py, reports/cnn_history.csv e images/cnn_training_curves.png. Métricas de la corrida original del equipo.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Jenaro. 04:50-05:50 (60 segundos). Cambio a Jason: 05:50-06:00.</a:t>
            </a:r>
          </a:p>
          <a:p xmlns:a="http://schemas.openxmlformats.org/drawingml/2006/main">
            <a:r>
              <a:t>Los mapas de características muestran las activaciones de distintos filtros. Las primeras capas pueden responder a bordes y contornos. Las más profundas combinan esos patrones con menor resolución. Grad-CAM usa los gradientes de la clase analizada para ponderar la última convolución. Arriba vemos un acierto: la letra G. Abajo, el modelo confunde una N con A y el mapa explica la clase A predicha. Cada par muestra la imagen original y la superposición. Revisamos así si las regiones destacadas coinciden con la mano o incluyen el fondo. El resultado es aproximado: ampliamos un mapa de 7 por 7 y normalizamos su intensidad por imagen. El mapa no compara confianza entre ejemplos ni demuestra causalidad. Jason mostrará ahora la evaluación del test oficial.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src/sign_mlp/cnn.py e images/cnn_feature_maps.png. Grad-CAM: output/jenaro_ep2/images/cnn_gradcam_examples.png, recortes nativos de las filas 0 (real G, predicción G) y 3 (real N, predicción A), con índice desde cero. Ilustración técnica de la nueva corrida de validación. Las métricas de las demás diapositivas corresponden a la corrida original del equipo. Cuadrícula complementaria de 24 clases: output/jenaro_ep2/images/cnn_gradcam_by_class.png.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Jason. 06:00-07:00 (60 segundos).</a:t>
            </a:r>
          </a:p>
          <a:p xmlns:a="http://schemas.openxmlformats.org/drawingml/2006/main">
            <a:r>
              <a:t>En el test oficial, la CNN alcanzó 96,60% de accuracy, 0,9604 de precision macro, 0,9616 de recall macro y 0,9595 de F1 macro. Reportamos F1 macro porque calcula el resultado por clase y les da el mismo peso, evitando que una clase con más ejemplos domine la evaluación. La diagonal fuerte de la matriz muestra que la mayoría de las predicciones son correctas.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reports/cnn_metrics.json e images/cnn_confusion_matrix.png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Jason. 07:00-08:15 (75 segundos).</a:t>
            </a:r>
          </a:p>
          <a:p xmlns:a="http://schemas.openxmlformats.org/drawingml/2006/main">
            <a:r>
              <a:t>El MLP obtuvo 79,71% de accuracy de test y la CNN 96,60%, una mejora de 16,89 puntos porcentuales. El F1 macro subió de 0,7760 a 0,9595. La CNN usa 243.352 parámetros frente a 569.240 del MLP, 57,25% menos. Su costo es aproximadamente 10 segundos adicionales de entrenamiento. La brecha validación-test baja de 20,29 a 3,40 puntos, por lo que generaliza mucho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reports/mlp_cnn_comparison.csv y reports/cnn_metrics.json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Jason. 08:15-09:10 (55 segundos).</a:t>
            </a:r>
          </a:p>
          <a:p xmlns:a="http://schemas.openxmlformats.org/drawingml/2006/main">
            <a:r>
              <a:t>Los errores más frecuentes son T con X, G con Q y X con T. T es la clase con menor F1, seguida por X y R. Estas señas comparten formas o posiciones de dedos parecidas, por lo que pequeñas diferencias visuales pueden cambiar la clase. Los ejemplos permiten revisar casos concretos, no solo un promedio.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reports/cnn_classification_report.txt, reports/cnn_metrics.json e images/cnn_incorrect_examples.png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Jason. 09:10-10:00 (50 segundos). Terminar la última frase a los 10:00.</a:t>
            </a:r>
          </a:p>
          <a:p xmlns:a="http://schemas.openxmlformats.org/drawingml/2006/main">
            <a:r>
              <a:t>Concluimos que la CNN es más adecuada porque conserva la estructura espacial, comparte filtros y aprende patrones locales. Mejoró fuertemente el rendimiento y la generalización usando menos parámetros, aunque tardó algo más en entrenar. La principal limitación es que solo reconoce letras estáticas. Como siguiente paso proponemos data augmentation, Batch Normalization y evaluación con imágenes externas.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INFORME_TECNICO_EP2.md y reports/cnn_metrics.json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85b22b45245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aa9c208d246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b9713790142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891ea094f47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bc20685ab4c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65c265f8f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D2E35F-A5AE-434E-A12F-02AAB4852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A67E81-E854-493C-B437-252FA1DA37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CDDC2F-5079-47C5-8F08-FB32EC8E9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AD0534-871B-4A59-80D8-6FEEC95A0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506865-9E7D-460C-AB71-3ABD3B1140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8D9C75-1046-4CE5-8497-817EF267B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8E08D7-27DF-4F44-A0F2-4566797FD5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173CFE-12CA-4548-9152-B640ED47D1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957040-FF61-4736-88E5-1B460D4E0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B58E13-99CA-4EF8-ABE8-67EEB4C24E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d279d4b36b4910" /><Relationship Type="http://schemas.openxmlformats.org/officeDocument/2006/relationships/slideLayout" Target="/ppt/slideLayouts/slideLayout1.xml" Id="Rfdb9852fd91f4415" /><Relationship Type="http://schemas.openxmlformats.org/officeDocument/2006/relationships/slideLayout" Target="/ppt/slideLayouts/slideLayout2.xml" Id="Rcb0a469b65284736" /><Relationship Type="http://schemas.openxmlformats.org/officeDocument/2006/relationships/slideLayout" Target="/ppt/slideLayouts/slideLayout3.xml" Id="R2da5889ad3824dce" /><Relationship Type="http://schemas.openxmlformats.org/officeDocument/2006/relationships/slideLayout" Target="/ppt/slideLayouts/slideLayout4.xml" Id="R9ddac537471147dd" /><Relationship Type="http://schemas.openxmlformats.org/officeDocument/2006/relationships/slideLayout" Target="/ppt/slideLayouts/slideLayout5.xml" Id="R675aeb810c8d415f" /><Relationship Type="http://schemas.openxmlformats.org/officeDocument/2006/relationships/slideLayout" Target="/ppt/slideLayouts/slideLayout6.xml" Id="R1e0a665965f643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b9852fd91f4415"/>
    <p:sldLayoutId xmlns:r="http://schemas.openxmlformats.org/officeDocument/2006/relationships" id="2147483650" r:id="Rcb0a469b65284736"/>
    <p:sldLayoutId xmlns:r="http://schemas.openxmlformats.org/officeDocument/2006/relationships" id="2147483651" r:id="R2da5889ad3824dce"/>
    <p:sldLayoutId xmlns:r="http://schemas.openxmlformats.org/officeDocument/2006/relationships" id="2147483652" r:id="R9ddac537471147dd"/>
    <p:sldLayoutId xmlns:r="http://schemas.openxmlformats.org/officeDocument/2006/relationships" id="2147483653" r:id="R675aeb810c8d415f"/>
    <p:sldLayoutId xmlns:r="http://schemas.openxmlformats.org/officeDocument/2006/relationships" id="2147483654" r:id="R1e0a665965f643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1732568a947a5" /><Relationship Type="http://schemas.openxmlformats.org/officeDocument/2006/relationships/image" Target="/ppt/media/image.png" Id="R7704821f73154d67" /><Relationship Type="http://schemas.openxmlformats.org/officeDocument/2006/relationships/notesSlide" Target="/ppt/notesSlides/notesSlide1.xml" Id="Rb1ef57e35c9b4e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763e504a745ba" /><Relationship Type="http://schemas.openxmlformats.org/officeDocument/2006/relationships/notesSlide" Target="/ppt/notesSlides/notesSlide2.xml" Id="Rbe83502bb3f544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5a84b1f034435" /><Relationship Type="http://schemas.openxmlformats.org/officeDocument/2006/relationships/notesSlide" Target="/ppt/notesSlides/notesSlide3.xml" Id="Rbe562e9064b9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9831a644c4256" /><Relationship Type="http://schemas.openxmlformats.org/officeDocument/2006/relationships/notesSlide" Target="/ppt/notesSlides/notesSlide4.xml" Id="R16b2c260752e4a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3e7986fdc4e82" /><Relationship Type="http://schemas.openxmlformats.org/officeDocument/2006/relationships/image" Target="/ppt/media/jenaro_slide5_1.png" Id="Rb2b0f0684b4b4fc7" /><Relationship Type="http://schemas.openxmlformats.org/officeDocument/2006/relationships/notesSlide" Target="/ppt/notesSlides/notesSlide5.xml" Id="R2f0aac6276c944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400d3503124954" /><Relationship Type="http://schemas.openxmlformats.org/officeDocument/2006/relationships/image" Target="/ppt/media/jenaro_slide6_1.png" Id="R242f2761c1204783" /><Relationship Type="http://schemas.openxmlformats.org/officeDocument/2006/relationships/image" Target="/ppt/media/jenaro_slide6_2.png" Id="R7187a6219e484bb7" /><Relationship Type="http://schemas.openxmlformats.org/officeDocument/2006/relationships/image" Target="/ppt/media/jenaro_slide6_3.png" Id="R7b8d31426a6b4e2a" /><Relationship Type="http://schemas.openxmlformats.org/officeDocument/2006/relationships/notesSlide" Target="/ppt/notesSlides/notesSlide6.xml" Id="Ra76a468213ca46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e289399e241f4" /><Relationship Type="http://schemas.openxmlformats.org/officeDocument/2006/relationships/image" Target="/ppt/media/image5.png" Id="R4b27a6e42f374974" /><Relationship Type="http://schemas.openxmlformats.org/officeDocument/2006/relationships/notesSlide" Target="/ppt/notesSlides/notesSlide7.xml" Id="R20a7dc1951d647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a89ad6c9949b3" /><Relationship Type="http://schemas.openxmlformats.org/officeDocument/2006/relationships/chart" Target="/ppt/slides/charts/chart1.xml" Id="R0223d16e4e5b4520" /><Relationship Type="http://schemas.openxmlformats.org/officeDocument/2006/relationships/notesSlide" Target="/ppt/notesSlides/notesSlide8.xml" Id="R416c801d4d8946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fde4886004e82" /><Relationship Type="http://schemas.openxmlformats.org/officeDocument/2006/relationships/image" Target="/ppt/media/image6.png" Id="R8cb08d71654a4d44" /><Relationship Type="http://schemas.openxmlformats.org/officeDocument/2006/relationships/notesSlide" Target="/ppt/notesSlides/notesSlide9.xml" Id="R727423b7d38148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b954dd2154b98" /><Relationship Type="http://schemas.openxmlformats.org/officeDocument/2006/relationships/notesSlide" Target="/ppt/notesSlides/notesSlide10.xml" Id="R9e2f8d6d63364f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 test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MLP EP1</c:v>
                </c:pt>
                <c:pt idx="1">
                  <c:v>CNN EP2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79.71</c:v>
                </c:pt>
                <c:pt idx="1">
                  <c:v>96.6</c:v>
                </c:pt>
              </c:numCache>
            </c:numRef>
          </c:val>
        </c:ser>
        <c:ser>
          <c:idx val="1"/>
          <c:order val="1"/>
          <c:tx>
            <c:v>F1 macro test</c:v>
          </c:tx>
          <c:spPr>
            <a:solidFill xmlns:a="http://schemas.openxmlformats.org/drawingml/2006/main">
              <a:srgbClr val="17324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MLP EP1</c:v>
                </c:pt>
                <c:pt idx="1">
                  <c:v>CNN EP2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77.6</c:v>
                </c:pt>
                <c:pt idx="1">
                  <c:v>95.95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32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9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4E5C6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2B94E-5B97-4B79-BC6C-F7A585C8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Sign Language</a:t>
            </a:r>
          </a:p>
          <a:p xmlns:a="http://schemas.openxmlformats.org/drawingml/2006/main">
            <a: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MNIST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1E4D0-99C1-45C3-A8AA-C82C04AC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Clasificación con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7FC91-6367-4B8C-9619-043CF73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Continuidad y comparación con el MLP de la EP1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3FD5B-EFF5-4536-882D-A92E8910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Gonzalo Castillo · Jenaro Marin · Jason Aguilera</a:t>
            </a:r>
          </a:p>
          <a:p xmlns:a="http://schemas.openxmlformats.org/drawingml/2006/main">
            <a: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TLY1102 · Evaluación Parcial 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D31E8-34BC-4458-B73A-C164A3A65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4821f73154d67"/>
          <a:stretch xmlns:a="http://schemas.openxmlformats.org/drawingml/2006/main"/>
        </p:blipFill>
        <p:spPr>
          <a:xfrm xmlns:a="http://schemas.openxmlformats.org/drawingml/2006/main">
            <a:off x="6762750" y="1480785"/>
            <a:ext cx="4810125" cy="35630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88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64196-99D9-4C08-93A3-9AC78382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Continuidad EP1 → EP2: cambia 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A6009-2E2C-4D59-9C5B-9ECFA9BF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B71AE-AF9A-4A82-B560-A77191C4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000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72931-D10C-4EC1-854A-BF637B72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MLP · EP1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21106-3F89-4EF3-8484-9F005C79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771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Entrada: vector de 784 valores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Conexiones densas globales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569.240 parámetros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9704C-5406-442E-9E83-CCBAA1B0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142875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8FD46-ED79-4365-ACEF-5AE271CB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misma tarea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DA899-EDFF-418F-A1F9-CCC71C1B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00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06335-DE97-4F44-B41A-CDFBC14F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47825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CNN · EP2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FADC5-D147-4643-AA65-98A584CD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19300"/>
            <a:ext cx="3771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Entrada: tensor 28 × 28 × 1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Filtros locales + pooling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243.352 parámetros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365A8-6109-45F2-A229-C1A3E564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 mantiene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AE007-18BC-43D0-A080-284B2EB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Dataset, 24 clases, particiones y semilla 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42048-96BB-4A02-BB6A-B1371C8B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29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 adapta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DE840-0AAF-42D2-9FFD-D7440D0E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76800"/>
            <a:ext cx="481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Formato de entrada y arquitectura para aprovechar la estructura espacial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EBE0F-771E-40B1-844C-4C977C68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E5C68"/>
                </a:solidFill>
                <a:latin typeface="Arial"/>
                <a:ea typeface="Arial"/>
                <a:cs typeface="Arial"/>
              </a:rPr>
              <a:t>No se repite la limpieza de la EP1: se reutilizan los datos ya validados.</a:t>
            </a:r>
          </a:p>
        </p:txBody>
      </p:sp>
    </p:spTree>
    <p:extLst>
      <p:ext uri="{BB962C8B-B14F-4D97-AF65-F5344CB8AC3E}">
        <p14:creationId xmlns:p14="http://schemas.microsoft.com/office/powerpoint/2010/main" val="1797717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1E5CD-987D-4DB4-B538-726D4D51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Preparación específica para la CNN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40B8B-CF98-4F7E-BBD0-5A56E52A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E8CCA-62CC-4050-B173-36585ABD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C2C00-0AC7-4AD9-86B1-0265BC8E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29E26-808C-40D5-86C4-F2A70F5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86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label + 784 píxeles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D5C79-5E58-448C-B001-5E8115AC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71675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1327E-043C-4544-86AC-E3CBAFE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6D1F4-1BFA-481A-8A64-BE2543A8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478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Normalizar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5AF83-C963-43CA-A448-70D5C8E1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19300"/>
            <a:ext cx="186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píxel / 255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0-255 → 0-1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BA941-3065-4D8E-94EC-D7BAF9B0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71675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74B48-57F4-4B4E-9D9A-4EAC10B5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F04C0-D097-49E2-8BF7-0D270F3B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Reconstruir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B222F-8E70-49A9-88A6-DB58D6E9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2057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tensor 28 × 28 ×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A87F1-1E48-47BE-BFC0-419AABA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71675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FB011-A822-4AC9-BCF9-6317F0D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71625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3E49C-C97D-4C73-8FB0-9C3DA18E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6478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Entrar a CNN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60FF6-5C97-4D5D-B843-933D8064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19300"/>
            <a:ext cx="186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conservar vecindad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6FB08-60D1-4789-9389-7C155C19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Particiones estratificadas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B4FB4-78E9-423E-ABFA-2E86BA0A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21.964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D7A3C-ABFF-4E24-B58F-47BC8DCD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entrenamiento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0782B-54D2-4926-9A8D-C994627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52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5.491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BF9F5-9E1D-44D5-8A6A-1EB68F2D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10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9C851-EDBA-42AA-B5DC-F68A095E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52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7.172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02FC5-E3EC-4F15-83FA-1CC2851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0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test oficial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896F8-3574-4ADD-A96C-795DE69A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Adaptación EP2: cambiar el formato, no volver a limpiar. El test sigue separado.</a:t>
            </a:r>
          </a:p>
        </p:txBody>
      </p:sp>
    </p:spTree>
    <p:extLst>
      <p:ext uri="{BB962C8B-B14F-4D97-AF65-F5344CB8AC3E}">
        <p14:creationId xmlns:p14="http://schemas.microsoft.com/office/powerpoint/2010/main" val="1143056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AE3BCB-B01B-425E-A569-3035DD12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Arquitectura: aprender patrones espaciales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069BE-0739-4970-A7F6-1D17D5F0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70A88-6F4B-4AEE-B795-9DE39992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B2DA7-0551-4FC8-99E1-893E9CCD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851AC-CC2E-4683-A554-3070BC41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85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28×28×1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35AD9-773B-46B3-951E-671523D7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2667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9C2B6-72F4-4B15-91A7-ACC2B3CC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66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756D0-4C5D-4242-A5D7-FFD46AB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430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Conv +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FA569-2002-4B1F-BD31-9C1E4FF2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158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32 filtros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14 × 14 × 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375B3-FD38-4F8C-B335-AEAE2BB8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28825"/>
            <a:ext cx="2667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2D058-CCDF-49B7-8AE7-81398907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66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46CC4-AC15-4721-B1D0-3A545BB7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430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Conv + Pool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A1EBC-A950-4E21-9207-D0078E1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14550"/>
            <a:ext cx="158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64 filtros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7 × 7 × 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48FD8-B7A0-47A2-ABA4-55C6AE7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28825"/>
            <a:ext cx="2667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27553-6B7B-480D-9955-89F4EF29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66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18A41-8BB6-43E3-B062-7E9AD615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430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Conv + Pool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FA89A-B9C1-4435-9F32-365A8223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158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128 filtros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3 × 3 × 128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F539A-481D-4F49-A865-1D70047E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2667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C8F60-59AC-4D1E-8373-C0B12583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66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44CC7-F5EC-40D7-BF32-A63E65C9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4307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Clasificador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AD590-B2C8-451D-B4F5-3F92D14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2152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Flatten 1.152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Dense 128 + Softmax 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E9ECA-53A4-4265-BB6A-2731A917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71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ReLU + Pool 2×2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5CC6C-AB59-4F5E-9998-241CD908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71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ReLU + Pool 2×2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E8E8D-DDCD-42EC-9578-EDF423C9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ReLU + Pool 2×2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D4B52-1605-464B-BC5E-FC7DA732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Convolución + ReLU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08B678-6C3D-432F-A478-FD277F90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Filtros 3 × 3 compartidos detectan patrones locales. ReLU añade no linealidad.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88C99-E5EE-487A-8751-31F3C8B6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Pooling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79EAF-5C18-4C80-81F7-3152AAC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957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Reduce alto y ancho a la mitad. Conserva el máximo de cada ventana 2 × 2.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6B783-75BC-4994-93FB-CBB3010B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089E4C-4C2C-4CEE-B188-B7212AB5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957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Entrega 24 probabilidades que suman 1. Elegimos la mayor.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EA95C-83BA-42FD-82CA-B83DDD0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Total: 243.352 parámetros entrenables</a:t>
            </a:r>
          </a:p>
        </p:txBody>
      </p:sp>
    </p:spTree>
    <p:extLst>
      <p:ext uri="{BB962C8B-B14F-4D97-AF65-F5344CB8AC3E}">
        <p14:creationId xmlns:p14="http://schemas.microsoft.com/office/powerpoint/2010/main" val="1918491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4A14C-5789-44EF-A08F-2ED0A4DF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Entrenamiento y control del sobreajuste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1B3FB-2BE3-4202-9335-B68B62BE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595A1-BF47-4868-8330-1014219A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0CB79-3E1D-447F-A714-8496468E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Optimizador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8A185-431F-42EA-A8E4-FBDF2031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478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Adam · 0,001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2BF01-A9EC-4E81-B9F0-C38B695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Pérdida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2DD24-2B33-4639-9A7F-E8EBDACC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Sparse categorical crossentropy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Etiquetas enteras de 0 a 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1D8A6-97CB-4072-B53C-11B7A4A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78C19-7175-4709-A7EE-2B58E68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Presupuesto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904A1-1BA6-4B8A-B327-50C000B1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052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hasta 20 épocas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45964-D2B6-45FC-89F3-5EFDC51B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Semilla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BCA1B-C679-479D-9ED6-37DF8EEE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576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1BE02-6DDF-42F3-935F-F4D3AAC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Dropout 0,25 / 0,40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1D138-7D8E-4CFF-9089-F10C9DBB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val_loss: EarlyStopping con paciencia 4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ReduceLROnPlateau con paciencia 2 y factor 0,5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7FE0F-F517-4D0B-BFEB-ED505F51B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0f0684b4b4fc7"/>
          <a:stretch xmlns:a="http://schemas.openxmlformats.org/drawingml/2006/main"/>
        </p:blipFill>
        <p:spPr>
          <a:xfrm xmlns:a="http://schemas.openxmlformats.org/drawingml/2006/main">
            <a:off x="5572125" y="2605627"/>
            <a:ext cx="5905500" cy="1932497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81AE0-56FD-451D-96D1-5938ECA3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6727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 épocas en 41,41 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100% accuracy de validación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7F1EB-4D95-4665-AB3D-6E204FC3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527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>
            <a:defPPr algn="l">
              <a:defRPr sz="150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63746"/>
                </a:solidFill>
                <a:latin typeface="Arial"/>
                <a:ea typeface="Arial"/>
                <a:cs typeface="Arial"/>
              </a:rPr>
              <a:t>128 imágenes</a:t>
            </a:r>
          </a:p>
        </p:txBody>
      </p:sp>
    </p:spTree>
    <p:extLst>
      <p:ext uri="{BB962C8B-B14F-4D97-AF65-F5344CB8AC3E}">
        <p14:creationId xmlns:p14="http://schemas.microsoft.com/office/powerpoint/2010/main" val="259837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6E1D3-C809-4274-B53F-F6900996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Qué aprende la CNN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098E0-944F-4AF4-814D-2B280B6D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3DBF6-9FF4-4D12-B0B2-6D2A4C3F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Mapas de características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5E154-8580-4B26-BAD7-8C07CDF7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76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Grad-CAM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5DC08-549B-44B4-9987-5A2C882EC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f2761c1204783"/>
          <a:stretch xmlns:a="http://schemas.openxmlformats.org/drawingml/2006/main"/>
        </p:blipFill>
        <p:spPr>
          <a:xfrm xmlns:a="http://schemas.openxmlformats.org/drawingml/2006/main">
            <a:off x="514350" y="2458218"/>
            <a:ext cx="5524500" cy="2265413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7DB19-3F9D-4A27-AD57-63A2D454D5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7a6219e484bb7"/>
          <a:srcRect xmlns:a="http://schemas.openxmlformats.org/drawingml/2006/main" l="7000" t="2762" r="7000" b="82509"/>
          <a:stretch xmlns:a="http://schemas.openxmlformats.org/drawingml/2006/main"/>
        </p:blipFill>
        <p:spPr>
          <a:xfrm xmlns:a="http://schemas.openxmlformats.org/drawingml/2006/main">
            <a:off x="7300246" y="1990725"/>
            <a:ext cx="3306509" cy="147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B8A24-7FC1-4867-AF10-DAE679DC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19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Las activaciones muestran respuestas a distintos patrones en cada capa.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433FD-C4E3-4B52-B2CC-BC841494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Grad-CAM estima regiones asociadas con la predicción. Puede incluir el fondo.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D013E-B796-4529-8BD9-31209A41F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d31426a6b4e2a"/>
          <a:srcRect xmlns:a="http://schemas.openxmlformats.org/drawingml/2006/main" l="7000" t="52091" r="7000" b="33180"/>
          <a:stretch xmlns:a="http://schemas.openxmlformats.org/drawingml/2006/main"/>
        </p:blipFill>
        <p:spPr>
          <a:xfrm xmlns:a="http://schemas.openxmlformats.org/drawingml/2006/main">
            <a:off x="7300246" y="3895725"/>
            <a:ext cx="3306509" cy="1476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90130-4E17-4FAF-A35B-B39971F3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Acierto: real G, predicción 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AF0EA-2CB7-4E72-9567-52EC0F3F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Error: real N, predicción A</a:t>
            </a:r>
          </a:p>
        </p:txBody>
      </p:sp>
    </p:spTree>
    <p:extLst>
      <p:ext uri="{BB962C8B-B14F-4D97-AF65-F5344CB8AC3E}">
        <p14:creationId xmlns:p14="http://schemas.microsoft.com/office/powerpoint/2010/main" val="1112209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11615-6179-40AF-9C6D-0B5CD03C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Evaluación final sobre 7.172 imágenes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DBA04-8152-4CA5-9C86-A9F74FA0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7042F-BFA2-4140-9CF9-19D31537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96,60%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4C02E-0F18-4771-AC99-06D2CD89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Accuracy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ED778-F1DA-486F-A6AE-D54CC246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0,9604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B0BA3-9200-4F8A-A60B-E712D7AA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Precision macro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8535D-2265-479F-B1F8-28C86CFF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0,9616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DAE8E-64DD-4299-A940-64FF3EF8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Recall macro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0266D-4E1A-48D7-9780-3D33E123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0,9595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BD29A-0146-4E9C-A32E-45C87FAF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F1 macro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074BE-1EA9-4420-A4E0-82EED8C51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7a6e42f374974"/>
          <a:stretch xmlns:a="http://schemas.openxmlformats.org/drawingml/2006/main"/>
        </p:blipFill>
        <p:spPr>
          <a:xfrm xmlns:a="http://schemas.openxmlformats.org/drawingml/2006/main">
            <a:off x="4486284" y="1190625"/>
            <a:ext cx="617218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26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4BE4B-7CC1-47AE-A5C8-C6A1A121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CNN versus MLP: misma tarea, mejor generalización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664F6-104D-4313-B44E-08CEA98E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39C46F8-8765-48B2-90AC-76DE2EA3A1BE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6715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23d16e4e5b452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07C5E-C845-4894-B1D4-7391B51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+16,89 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95626-F305-4913-AE39-82E09257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33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accuracy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84187-39EA-4ED3-B969-F46D030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−57,25%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84A62-324E-4508-AEF3-1A66ED58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147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parámetros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0C5F8-D298-4820-B1F0-333C92C3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3862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3,40 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6A643-E815-436C-AD99-7DE1E704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95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brecha validación-test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4D2D3-C8D3-4FD3-AB3F-20211ABE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388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Tiempo: CNN 41,41 s · MLP 31,50 s</a:t>
            </a:r>
          </a:p>
        </p:txBody>
      </p:sp>
    </p:spTree>
    <p:extLst>
      <p:ext uri="{BB962C8B-B14F-4D97-AF65-F5344CB8AC3E}">
        <p14:creationId xmlns:p14="http://schemas.microsoft.com/office/powerpoint/2010/main" val="203776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AEAD3-51E0-4BC5-A732-0304C17F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Dónde se equivoca la CNN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781CF-1A51-403F-AC00-CF3930C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E749F-A1F5-49A2-9C17-83ED79C71C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08d71654a4d44"/>
          <a:stretch xmlns:a="http://schemas.openxmlformats.org/drawingml/2006/main"/>
        </p:blipFill>
        <p:spPr>
          <a:xfrm xmlns:a="http://schemas.openxmlformats.org/drawingml/2006/main">
            <a:off x="1831628" y="1285875"/>
            <a:ext cx="4328218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0A27B-76D7-4222-9E68-D61A93E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Confusiones frecuentes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2052A-D42F-4132-BD0A-B9DA4D70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 → X: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5A828-9016-46E1-8B62-44582660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 → Q: 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82263-10EB-4D1F-A5A7-18238B5B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28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X → T: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50BAC-EB2C-4475-8D6C-B24514EF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05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 → E: 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45DBB-13C0-424C-9E30-84905ADE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 → L: 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377FE-EBD2-44CB-96C9-03F64D61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9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Menor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F003F-9645-477A-90D3-32768E5E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 0,7745 · X 0,8586 · R 0,8723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D7C27-7AA9-4D81-8C55-EDC88166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Las formas y posiciones de dedos similares explican parte de la dificultad.</a:t>
            </a:r>
          </a:p>
        </p:txBody>
      </p:sp>
    </p:spTree>
    <p:extLst>
      <p:ext uri="{BB962C8B-B14F-4D97-AF65-F5344CB8AC3E}">
        <p14:creationId xmlns:p14="http://schemas.microsoft.com/office/powerpoint/2010/main" val="1990395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7E75E-292A-4649-883B-AEC4FE5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Conclusión: la estructura espacial sí importa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EFB81-2619-462A-B745-C100F2CB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72341-9C3C-41D8-B454-8AA7303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96,60%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16E37-4587-4CC2-BACB-DFEBF11E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accuracy de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27325-834B-49AC-9CAF-02C30A15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Mejor generalización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0429F-8701-4EB8-8AF1-67D8011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La brecha validación-test cae de 20,29 a 3,40 puntos porcentuales.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41523-292B-47E2-B5D6-66EAFBAB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Menos parámetros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7C934-4C3F-46B2-8B47-F601460B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La CNN usa 243.352 parámetros: 57,25% menos que el MLP.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19573-F7CD-4423-AF7A-1EFB3942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Próximo experimento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A9202-B7DC-4566-8E7F-9F4B927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Data augmentation, Batch Normalization y validación con imágenes externas.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1627F-5949-469F-9A02-A7ED4D1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Limitación: reconoce letras estáticas; no J, Z ni secuencias de video.</a:t>
            </a:r>
          </a:p>
        </p:txBody>
      </p:sp>
    </p:spTree>
    <p:extLst>
      <p:ext uri="{BB962C8B-B14F-4D97-AF65-F5344CB8AC3E}">
        <p14:creationId xmlns:p14="http://schemas.microsoft.com/office/powerpoint/2010/main" val="1708830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2026-10-18T01:01:50.1850000Z</dcterms:created>
  <dcterms:modified xsi:type="dcterms:W3CDTF">2026-10-18T01:01:50.1850000Z</dcterms:modified>
</coreProperties>
</file>