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a1b3486a4be4259" /><Relationship Type="http://schemas.openxmlformats.org/officeDocument/2006/relationships/extended-properties" Target="/docProps/app.xml" Id="R0a8b2375cf914e8d" /><Relationship Type="http://schemas.openxmlformats.org/officeDocument/2006/relationships/officeDocument" Target="/ppt/presentation.xml" Id="R0abb3c9e6b1f4b25" /></Relationships>
</file>

<file path=ppt/presentation.xml><?xml version="1.0" encoding="utf-8"?>
<p:presentation xmlns:p="http://schemas.openxmlformats.org/presentationml/2006/main">
  <p:sldMasterIdLst>
    <p:sldMasterId xmlns:r="http://schemas.openxmlformats.org/officeDocument/2006/relationships" id="2147483648" r:id="R24859058dd314e67"/>
  </p:sldMasterIdLst>
  <p:notesMasterIdLst>
    <p:notesMasterId xmlns:r="http://schemas.openxmlformats.org/officeDocument/2006/relationships" r:id="R55b9c2e99ad94cfc"/>
  </p:notesMasterIdLst>
  <p:sldIdLst>
    <p:sldId xmlns:r="http://schemas.openxmlformats.org/officeDocument/2006/relationships" id="256" r:id="Refd359915a0d4c5a"/>
    <p:sldId xmlns:r="http://schemas.openxmlformats.org/officeDocument/2006/relationships" id="257" r:id="Rbcf3724ea29141fa"/>
    <p:sldId xmlns:r="http://schemas.openxmlformats.org/officeDocument/2006/relationships" id="258" r:id="R979304ad5be34cc6"/>
    <p:sldId xmlns:r="http://schemas.openxmlformats.org/officeDocument/2006/relationships" id="259" r:id="R043b8e8e533c4db1"/>
    <p:sldId xmlns:r="http://schemas.openxmlformats.org/officeDocument/2006/relationships" id="260" r:id="R8de779df01fe4203"/>
    <p:sldId xmlns:r="http://schemas.openxmlformats.org/officeDocument/2006/relationships" id="261" r:id="Raedad0e47cb9420e"/>
    <p:sldId xmlns:r="http://schemas.openxmlformats.org/officeDocument/2006/relationships" id="262" r:id="R7ff61f066c5341e3"/>
    <p:sldId xmlns:r="http://schemas.openxmlformats.org/officeDocument/2006/relationships" id="263" r:id="Recb7227660ec4878"/>
    <p:sldId xmlns:r="http://schemas.openxmlformats.org/officeDocument/2006/relationships" id="264" r:id="R3a689784f9164e30"/>
    <p:sldId xmlns:r="http://schemas.openxmlformats.org/officeDocument/2006/relationships" id="265" r:id="Rd85ce53787dc45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f0b4e7137446a9" /><Relationship Type="http://schemas.openxmlformats.org/officeDocument/2006/relationships/slideMaster" Target="/ppt/slideMasters/slideMaster1.xml" Id="R24859058dd314e67" /><Relationship Type="http://schemas.openxmlformats.org/officeDocument/2006/relationships/notesMaster" Target="/ppt/notesMasters/notesMaster1.xml" Id="R55b9c2e99ad94cfc" /><Relationship Type="http://schemas.openxmlformats.org/officeDocument/2006/relationships/presProps" Target="/ppt/presProps.xml" Id="Rf58a9d0c65044f96" /><Relationship Type="http://schemas.openxmlformats.org/officeDocument/2006/relationships/tableStyles" Target="/ppt/tableStyles.xml" Id="Rb20c14a10f0a413d" /><Relationship Type="http://schemas.openxmlformats.org/officeDocument/2006/relationships/slide" Target="/ppt/slides/slide1.xml" Id="Refd359915a0d4c5a" /><Relationship Type="http://schemas.openxmlformats.org/officeDocument/2006/relationships/slide" Target="/ppt/slides/slide2.xml" Id="Rbcf3724ea29141fa" /><Relationship Type="http://schemas.openxmlformats.org/officeDocument/2006/relationships/slide" Target="/ppt/slides/slide3.xml" Id="R979304ad5be34cc6" /><Relationship Type="http://schemas.openxmlformats.org/officeDocument/2006/relationships/slide" Target="/ppt/slides/slide4.xml" Id="R043b8e8e533c4db1" /><Relationship Type="http://schemas.openxmlformats.org/officeDocument/2006/relationships/slide" Target="/ppt/slides/slide5.xml" Id="R8de779df01fe4203" /><Relationship Type="http://schemas.openxmlformats.org/officeDocument/2006/relationships/slide" Target="/ppt/slides/slide6.xml" Id="Raedad0e47cb9420e" /><Relationship Type="http://schemas.openxmlformats.org/officeDocument/2006/relationships/slide" Target="/ppt/slides/slide7.xml" Id="R7ff61f066c5341e3" /><Relationship Type="http://schemas.openxmlformats.org/officeDocument/2006/relationships/slide" Target="/ppt/slides/slide8.xml" Id="Recb7227660ec4878" /><Relationship Type="http://schemas.openxmlformats.org/officeDocument/2006/relationships/slide" Target="/ppt/slides/slide9.xml" Id="R3a689784f9164e30" /><Relationship Type="http://schemas.openxmlformats.org/officeDocument/2006/relationships/slide" Target="/ppt/slides/slide10.xml" Id="Rd85ce53787dc45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fdf86f23204c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Academico">
  <a:themeElements>
    <a:clrScheme name="Academico">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cademic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46131fb0584872" /><Relationship Type="http://schemas.openxmlformats.org/officeDocument/2006/relationships/notesMaster" Target="/ppt/notesMasters/notesMaster1.xml" Id="Rc4105b61cb164a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e0cfdebaca478b" /><Relationship Type="http://schemas.openxmlformats.org/officeDocument/2006/relationships/notesMaster" Target="/ppt/notesMasters/notesMaster1.xml" Id="R00ddce8c4dfd4f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2325faf82c4f79" /><Relationship Type="http://schemas.openxmlformats.org/officeDocument/2006/relationships/notesMaster" Target="/ppt/notesMasters/notesMaster1.xml" Id="Rc44d6637a00941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367f90a9e642b5" /><Relationship Type="http://schemas.openxmlformats.org/officeDocument/2006/relationships/notesMaster" Target="/ppt/notesMasters/notesMaster1.xml" Id="R77a7042820a449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550204864943e1" /><Relationship Type="http://schemas.openxmlformats.org/officeDocument/2006/relationships/notesMaster" Target="/ppt/notesMasters/notesMaster1.xml" Id="Ra7e8c8b2a5324f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fabc61e30543a2" /><Relationship Type="http://schemas.openxmlformats.org/officeDocument/2006/relationships/notesMaster" Target="/ppt/notesMasters/notesMaster1.xml" Id="Ra432d5af0be0449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5e52f195024a4f" /><Relationship Type="http://schemas.openxmlformats.org/officeDocument/2006/relationships/notesMaster" Target="/ppt/notesMasters/notesMaster1.xml" Id="R79fb1176f54049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d6d61f657c4273" /><Relationship Type="http://schemas.openxmlformats.org/officeDocument/2006/relationships/notesMaster" Target="/ppt/notesMasters/notesMaster1.xml" Id="Re960f9ce0c0642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6f6dc4d65a4acc" /><Relationship Type="http://schemas.openxmlformats.org/officeDocument/2006/relationships/notesMaster" Target="/ppt/notesMasters/notesMaster1.xml" Id="R9fa2b5b9ee4749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3647b1a24b4e45" /><Relationship Type="http://schemas.openxmlformats.org/officeDocument/2006/relationships/notesMaster" Target="/ppt/notesMasters/notesMaster1.xml" Id="R36c3f287076245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30 segundos.</a:t>
            </a:r>
          </a:p>
          <a:p xmlns:a="http://schemas.openxmlformats.org/drawingml/2006/main">
            <a:r>
              <a:t>Proponemos un caso educativo de reconocimiento de letras. No es un traductor completo de lengua de señas ni un sistema validado con cámara. El éxito se evalúa con accuracy, F1 macro y análisis de errores; no solo con el resultado de entrenamiento.</a:t>
            </a:r>
          </a:p>
          <a:p xmlns:a="http://schemas.openxmlformats.org/drawingml/2006/main">
            <a:r>
              <a:t/>
            </a:r>
          </a:p>
          <a:p xmlns:a="http://schemas.openxmlformats.org/drawingml/2006/main">
            <a:r>
              <a:t>Fuente: https://github.com/gonzalocastillo1483-art/sign-language-mnist-mlp/blob/389909513ca2c3d29162d832fbbe74b70308a271/images/gonzalo_sample_grid.png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Tiempo sugerido: 60 segundos.</a:t>
            </a:r>
          </a:p>
          <a:p xmlns:a="http://schemas.openxmlformats.org/drawingml/2006/main">
            <a:r>
              <a:t/>
            </a:r>
          </a:p>
          <a:p xmlns:a="http://schemas.openxmlformats.org/drawingml/2006/main">
            <a:r>
              <a:t>Cada fila contiene una etiqueta y 784 valores de píxeles. J y Z requieren movimiento y no están representadas en este conjunto estático. Las clases de entrenamiento tienen cantidades relativamente similares, aunque no idénticas. Esto no demuestra que cubramos todas las condiciones reales de captura.</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https://github.com/gonzalocastillo1483-art/sign-language-mnist-mlp/blob/389909513ca2c3d29162d832fbbe74b70308a271/README.md</a:t>
            </a:r>
          </a:p>
          <a:p xmlns:a="http://schemas.openxmlformats.org/drawingml/2006/main">
            <a:r>
              <a:t>https://github.com/gonzalocastillo1483-art/sign-language-mnist-mlp/blob/389909513ca2c3d29162d832fbbe74b70308a271/images/gonzalo_class_distribution.png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Gonzalo. Tiempo sugerido: 90 segundos.</a:t>
            </a:r>
          </a:p>
          <a:p xmlns:a="http://schemas.openxmlformats.org/drawingml/2006/main">
            <a:r>
              <a:t/>
            </a:r>
          </a:p>
          <a:p xmlns:a="http://schemas.openxmlformats.org/drawingml/2006/main">
            <a:r>
              <a:t>El flujo conecta comprensión del problema y datos, preparación, modelado y evaluación. La partición de validación sale del entrenamiento oficial; el test se conserva para la evaluación final. Normalizar evita trabajar con escalas de 0 a 255. Se remapean las etiquetas originales, que tienen huecos, a 24 índices consecutivos. Entrenamiento ajusta pesos; validación permite elegir configuración; test estima desempeño después de elegirla. No elegimos el modelo mirando el test.</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https://github.com/gonzalocastillo1483-art/sign-language-mnist-mlp/blob/389909513ca2c3d29162d832fbbe74b70308a271/reports/gonzalo_preprocessing_summary.md</a:t>
            </a:r>
          </a:p>
          <a:p xmlns:a="http://schemas.openxmlformats.org/drawingml/2006/main">
            <a:r>
              <a:t>https://github.com/gonzalocastillo1483-art/sign-language-mnist-mlp/blob/389909513ca2c3d29162d832fbbe74b70308a271/notebooks/02_sign_language_mnist_mlp_jenaro.ipynb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Tiempo sugerido: 60 segundos.</a:t>
            </a:r>
          </a:p>
          <a:p xmlns:a="http://schemas.openxmlformats.org/drawingml/2006/main">
            <a:r>
              <a:t/>
            </a:r>
          </a:p>
          <a:p xmlns:a="http://schemas.openxmlformats.org/drawingml/2006/main">
            <a:r>
              <a:t>Una neurona calcula una suma ponderada más un sesgo y aplica una activación. ReLU permite aprender relaciones no lineales. Softmax entrega valores que suman uno; elegimos la clase con el mayor valor. Eso no garantiza que la confianza esté calibrada. Al vectorizar se conservan los píxeles, pero una red Dense no incorpora explícitamente la vecindad espacial como una convolución.</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https://github.com/gonzalocastillo1483-art/sign-language-mnist-mlp/blob/389909513ca2c3d29162d832fbbe74b70308a271/src/sign_mlp/model.py</a:t>
            </a:r>
          </a:p>
          <a:p xmlns:a="http://schemas.openxmlformats.org/drawingml/2006/main">
            <a:r>
              <a:t>https://github.com/gonzalocastillo1483-art/sign-language-mnist-mlp/blob/389909513ca2c3d29162d832fbbe74b70308a271/reports/jenaro_modelo_entrenamiento.md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Tiempo sugerido: 60 segundos.</a:t>
            </a:r>
          </a:p>
          <a:p xmlns:a="http://schemas.openxmlformats.org/drawingml/2006/main">
            <a:r>
              <a:t/>
            </a:r>
          </a:p>
          <a:p xmlns:a="http://schemas.openxmlformats.org/drawingml/2006/main">
            <a:r>
              <a:t>La pérdida mide qué tan desacertada es la distribución predicha respecto de la etiqueta. La retropropagación calcula gradientes y Adam los usa para actualizar los pesos. Una época recorre el conjunto de entrenamiento; el batch agrupa 128 ejemplos por actualización. Mantuvimos el mismo protocolo y particiones para comparar tres tamaños de MLP. No se usó dropout en estas configuraciones. Las métricas corresponden a la época 20.</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https://github.com/gonzalocastillo1483-art/sign-language-mnist-mlp/blob/389909513ca2c3d29162d832fbbe74b70308a271/reports/jenaro_entrenamiento.json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Tiempo sugerido: 60 segundos.</a:t>
            </a:r>
          </a:p>
          <a:p xmlns:a="http://schemas.openxmlformats.org/drawingml/2006/main">
            <a:r>
              <a:t/>
            </a:r>
          </a:p>
          <a:p xmlns:a="http://schemas.openxmlformats.org/drawingml/2006/main">
            <a:r>
              <a:t>El criterio fue mayor F1 macro; los desempates consideran menor pérdida y luego menos parámetros. B obtiene un resultado cercano con aproximadamente cinco veces menos parámetros que C. Eso plantea un costo de complejidad, pero no demuestra que B sea mejor en test porque aquí no lo comparamos en ese conjunto. A rinde menos bajo este presupuesto de entrenamiento.</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https://github.com/gonzalocastillo1483-art/sign-language-mnist-mlp/blob/389909513ca2c3d29162d832fbbe74b70308a271/reports/jenaro_comparacion_validacion.csv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Jenaro. Tiempo sugerido: 60 segundos.</a:t>
            </a:r>
          </a:p>
          <a:p xmlns:a="http://schemas.openxmlformats.org/drawingml/2006/main">
            <a:r>
              <a:t/>
            </a:r>
          </a:p>
          <a:p xmlns:a="http://schemas.openxmlformats.org/drawingml/2006/main">
            <a:r>
              <a:t>Loss y accuracy describen aspectos distintos. No observamos una subida sostenida de la pérdida de validación que permita afirmar sobreajuste a partir de estas curvas solamente. Como A todavía mejora al final, no podemos atribuir todo su resultado a pocas neuronas: también podría requerir más entrenamiento. La selección de C está justificada por validación, pero el test nos dirá cuánto se sostiene.</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https://github.com/gonzalocastillo1483-art/sign-language-mnist-mlp/blob/389909513ca2c3d29162d832fbbe74b70308a271/reports/jenaro_historial_A_pequena.csv</a:t>
            </a:r>
          </a:p>
          <a:p xmlns:a="http://schemas.openxmlformats.org/drawingml/2006/main">
            <a:r>
              <a:t>https://github.com/gonzalocastillo1483-art/sign-language-mnist-mlp/blob/389909513ca2c3d29162d832fbbe74b70308a271/reports/jenaro_historial_B_mediana.csv</a:t>
            </a:r>
          </a:p>
          <a:p xmlns:a="http://schemas.openxmlformats.org/drawingml/2006/main">
            <a:r>
              <a:t>https://github.com/gonzalocastillo1483-art/sign-language-mnist-mlp/blob/389909513ca2c3d29162d832fbbe74b70308a271/reports/jenaro_historial_C_grande.csv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Tiempo sugerido: 60 segundos.</a:t>
            </a:r>
          </a:p>
          <a:p xmlns:a="http://schemas.openxmlformats.org/drawingml/2006/main">
            <a:r>
              <a:t/>
            </a:r>
          </a:p>
          <a:p xmlns:a="http://schemas.openxmlformats.org/drawingml/2006/main">
            <a:r>
              <a:t>El test contiene 7.172 imágenes. Precision macro es 0,7783, recall macro 0,7859 y pérdida 1,0483. Accuracy resume aciertos totales; F1 macro promedia por clase y da el mismo peso a cada una. El 100% de validación sí es un resultado medido, pero no garantiza generalización. La brecha muestra una limitación al evaluar imágenes del test; no prueba por sí sola memorización ni una causa específica.</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https://github.com/gonzalocastillo1483-art/sign-language-mnist-mlp/blob/389909513ca2c3d29162d832fbbe74b70308a271/reports/jenaro_integracion_test.json</a:t>
            </a:r>
          </a:p>
          <a:p xmlns:a="http://schemas.openxmlformats.org/drawingml/2006/main">
            <a:r>
              <a:t>https://github.com/gonzalocastillo1483-art/sign-language-mnist-mlp/blob/389909513ca2c3d29162d832fbbe74b70308a271/reports/jenaro_comparacion_validacion.csv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Tiempo sugerido: 70 segundos.</a:t>
            </a:r>
          </a:p>
          <a:p xmlns:a="http://schemas.openxmlformats.org/drawingml/2006/main">
            <a:r>
              <a:t/>
            </a:r>
          </a:p>
          <a:p xmlns:a="http://schemas.openxmlformats.org/drawingml/2006/main">
            <a:r>
              <a:t>La diagonal de la matriz representa aciertos; fuera de ella aparecen confusiones. Los ejemplos mencionados existen en la figura, pero no deben presentarse como las confusiones más frecuentes sin contarlas. Algunas posturas o fondos podrían influir; son hipótesis, no causas demostradas. B tiene F1 cercano a 0,97, lo que muestra que el rendimiento no es uniforme entre letras.</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https://github.com/gonzalocastillo1483-art/sign-language-mnist-mlp/blob/389909513ca2c3d29162d832fbbe74b70308a271/reports/jenaro_integracion_classification_report.txt</a:t>
            </a:r>
          </a:p>
          <a:p xmlns:a="http://schemas.openxmlformats.org/drawingml/2006/main">
            <a:r>
              <a:t>https://github.com/gonzalocastillo1483-art/sign-language-mnist-mlp/blob/389909513ca2c3d29162d832fbbe74b70308a271/images/jenaro_integracion_confusion_matrix.png</a:t>
            </a:r>
          </a:p>
          <a:p xmlns:a="http://schemas.openxmlformats.org/drawingml/2006/main">
            <a:r>
              <a:t>https://github.com/gonzalocastillo1483-art/sign-language-mnist-mlp/blob/389909513ca2c3d29162d832fbbe74b70308a271/images/jenaro_integracion_incorrect_examples.png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Jason. Tiempo sugerido: 50 segundos.</a:t>
            </a:r>
          </a:p>
          <a:p xmlns:a="http://schemas.openxmlformats.org/drawingml/2006/main">
            <a:r>
              <a:t/>
            </a:r>
          </a:p>
          <a:p xmlns:a="http://schemas.openxmlformats.org/drawingml/2006/main">
            <a:r>
              <a:t>El trabajo permite explicar datos, arquitectura, pérdida, optimización y evaluación, que son contenidos de clases. No podemos afirmar que esté listo para reconocer señas en situaciones reales. Como siguiente experimento, podríamos variar épocas o learning rate con el mismo protocolo, registrar resultados y reservar una evaluación independiente para la decisión final. Más complejidad no garantiza mejores resultados fuera del entrenamiento.</a:t>
            </a:r>
          </a:p>
          <a:p xmlns:a="http://schemas.openxmlformats.org/drawingml/2006/main">
            <a:r>
              <a:t/>
            </a:r>
          </a:p>
          <a:p xmlns:a="http://schemas.openxmlformats.org/drawingml/2006/main">
            <a:r>
              <a:t>Fuentes:</a:t>
            </a:r>
          </a:p>
          <a:p xmlns:a="http://schemas.openxmlformats.org/drawingml/2006/main">
            <a:r>
              <a:t>https://github.com/gonzalocastillo1483-art/sign-language-mnist-mlp/blob/389909513ca2c3d29162d832fbbe74b70308a271/reports/jenaro_integracion_test.json</a:t>
            </a:r>
          </a:p>
          <a:p xmlns:a="http://schemas.openxmlformats.org/drawingml/2006/main">
            <a:r>
              <a:t>https://github.com/gonzalocastillo1483-art/sign-language-mnist-mlp/blob/389909513ca2c3d29162d832fbbe74b70308a271/notebooks/02_sign_language_mnist_mlp_jenaro.ipynb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dff080340341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a70f4ecc304702" /><Relationship Type="http://schemas.openxmlformats.org/officeDocument/2006/relationships/slideLayout" Target="/ppt/slideLayouts/slideLayout1.xml" Id="R8169570a44084d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69570a44084d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Academico">
  <a:themeElements>
    <a:clrScheme name="Academico">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cademic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c2bfc3efcd4f1b" /><Relationship Type="http://schemas.openxmlformats.org/officeDocument/2006/relationships/image" Target="/ppt/media/image.png" Id="Rf033e6720cea407d" /><Relationship Type="http://schemas.openxmlformats.org/officeDocument/2006/relationships/notesSlide" Target="/ppt/notesSlides/notesSlide1.xml" Id="Rfe62098185c147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f6ee5fbdae4a46" /><Relationship Type="http://schemas.openxmlformats.org/officeDocument/2006/relationships/image" Target="/ppt/media/image2.png" Id="R646560e0b92742c5" /><Relationship Type="http://schemas.openxmlformats.org/officeDocument/2006/relationships/notesSlide" Target="/ppt/notesSlides/notesSlide2.xml" Id="R16c62ce664fc40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a5a01c0d78470c" /><Relationship Type="http://schemas.openxmlformats.org/officeDocument/2006/relationships/notesSlide" Target="/ppt/notesSlides/notesSlide3.xml" Id="Rf0de42e5474e48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9e480aa54d4b1d" /><Relationship Type="http://schemas.openxmlformats.org/officeDocument/2006/relationships/notesSlide" Target="/ppt/notesSlides/notesSlide4.xml" Id="Rc6c8990407cc41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ec0b0325a94bc5" /><Relationship Type="http://schemas.openxmlformats.org/officeDocument/2006/relationships/notesSlide" Target="/ppt/notesSlides/notesSlide5.xml" Id="R7e69c40093984e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7a524a38014f04" /><Relationship Type="http://schemas.openxmlformats.org/officeDocument/2006/relationships/notesSlide" Target="/ppt/notesSlides/notesSlide6.xml" Id="R0518c84773a24d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e9eaa143db4c9d" /><Relationship Type="http://schemas.openxmlformats.org/officeDocument/2006/relationships/chart" Target="/ppt/slides/charts/chart1.xml" Id="Rf6d47a5a1a144af8" /><Relationship Type="http://schemas.openxmlformats.org/officeDocument/2006/relationships/chart" Target="/ppt/slides/charts/chart2.xml" Id="Re3b515f7786e4b41" /><Relationship Type="http://schemas.openxmlformats.org/officeDocument/2006/relationships/notesSlide" Target="/ppt/notesSlides/notesSlide7.xml" Id="Raa4d29e76ff44f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ab6a94da514961" /><Relationship Type="http://schemas.openxmlformats.org/officeDocument/2006/relationships/chart" Target="/ppt/slides/charts/chart3.xml" Id="Rc55e56ab94cb455c" /><Relationship Type="http://schemas.openxmlformats.org/officeDocument/2006/relationships/notesSlide" Target="/ppt/notesSlides/notesSlide8.xml" Id="Ra6a2a66fbee246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e4ef2b73804e1a" /><Relationship Type="http://schemas.openxmlformats.org/officeDocument/2006/relationships/image" Target="/ppt/media/image3.png" Id="Rf8bef9e158cf403e" /><Relationship Type="http://schemas.openxmlformats.org/officeDocument/2006/relationships/image" Target="/ppt/media/image4.png" Id="R7bf1b2395a734f08" /><Relationship Type="http://schemas.openxmlformats.org/officeDocument/2006/relationships/notesSlide" Target="/ppt/notesSlides/notesSlide9.xml" Id="Ra8c89c5bc1e149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9232751a4e4d55" /><Relationship Type="http://schemas.openxmlformats.org/officeDocument/2006/relationships/notesSlide" Target="/ppt/notesSlides/notesSlide10.xml" Id="R2eea67e44b92439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7324D"/>
                </a:solidFill>
                <a:latin typeface="Arial"/>
                <a:ea typeface="Arial"/>
                <a:cs typeface="Arial"/>
              </a:rPr>
              <a:t>Pérdida de validación</a:t>
            </a:r>
          </a:p>
        </c:rich>
      </c:tx>
      <c:overlay val="0"/>
      <c:txPr>
        <a:bodyPr xmlns:a="http://schemas.openxmlformats.org/drawingml/2006/main" anchorCtr="1"/>
        <a:lstStyle xmlns:a="http://schemas.openxmlformats.org/drawingml/2006/main"/>
        <a:p xmlns:a="http://schemas.openxmlformats.org/drawingml/2006/main">
          <a:pPr>
            <a:defRPr sz="2100" b="1">
              <a:solidFill>
                <a:srgbClr val="17324D"/>
              </a:solidFill>
              <a:latin typeface="Arial"/>
              <a:ea typeface="Arial"/>
              <a:cs typeface="Arial"/>
            </a:defRPr>
          </a:pPr>
        </a:p>
      </c:txPr>
    </c:title>
    <c:plotArea>
      <c:lineChart>
        <c:grouping val="standard"/>
        <c:varyColors val="0"/>
        <c:ser>
          <c:idx val="0"/>
          <c:order val="0"/>
          <c:tx>
            <c:v>A: 32</c:v>
          </c:tx>
          <c:spPr>
            <a:ln xmlns:a="http://schemas.openxmlformats.org/drawingml/2006/main" w="28575">
              <a:solidFill>
                <a:srgbClr val="AF5828"/>
              </a:solidFill>
            </a:ln>
          </c:spPr>
          <c:marker>
            <c:symbol val="none"/>
          </c:marker>
          <c:cat>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Data'!$B$2:$B$21</c:f>
              <c:numCache>
                <c:formatCode>General</c:formatCode>
                <c:ptCount val="20"/>
                <c:pt idx="0">
                  <c:v>2.7029688358</c:v>
                </c:pt>
                <c:pt idx="1">
                  <c:v>2.2468039989</c:v>
                </c:pt>
                <c:pt idx="2">
                  <c:v>1.980246067</c:v>
                </c:pt>
                <c:pt idx="3">
                  <c:v>1.8076463938</c:v>
                </c:pt>
                <c:pt idx="4">
                  <c:v>1.6814200878</c:v>
                </c:pt>
                <c:pt idx="5">
                  <c:v>1.5824700594</c:v>
                </c:pt>
                <c:pt idx="6">
                  <c:v>1.5040197372</c:v>
                </c:pt>
                <c:pt idx="7">
                  <c:v>1.4404468536</c:v>
                </c:pt>
                <c:pt idx="8">
                  <c:v>1.3884236813</c:v>
                </c:pt>
                <c:pt idx="9">
                  <c:v>1.3437627554</c:v>
                </c:pt>
                <c:pt idx="10">
                  <c:v>1.3047646284</c:v>
                </c:pt>
                <c:pt idx="11">
                  <c:v>1.2704153061</c:v>
                </c:pt>
                <c:pt idx="12">
                  <c:v>1.2394149303</c:v>
                </c:pt>
                <c:pt idx="13">
                  <c:v>1.2110642195</c:v>
                </c:pt>
                <c:pt idx="14">
                  <c:v>1.1845827103</c:v>
                </c:pt>
                <c:pt idx="15">
                  <c:v>1.1603192091</c:v>
                </c:pt>
                <c:pt idx="16">
                  <c:v>1.13704741</c:v>
                </c:pt>
                <c:pt idx="17">
                  <c:v>1.1152931452</c:v>
                </c:pt>
                <c:pt idx="18">
                  <c:v>1.0945154428</c:v>
                </c:pt>
                <c:pt idx="19">
                  <c:v>1.0747777224</c:v>
                </c:pt>
              </c:numCache>
            </c:numRef>
          </c:val>
          <c:smooth val="0"/>
        </c:ser>
        <c:ser>
          <c:idx val="1"/>
          <c:order val="1"/>
          <c:tx>
            <c:v>B: 128 / 64</c:v>
          </c:tx>
          <c:spPr>
            <a:ln xmlns:a="http://schemas.openxmlformats.org/drawingml/2006/main" w="28575">
              <a:solidFill>
                <a:srgbClr val="087F8C"/>
              </a:solidFill>
            </a:ln>
          </c:spPr>
          <c:marker>
            <c:symbol val="none"/>
          </c:marker>
          <c:cat>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Data'!$D$2:$D$21</c:f>
              <c:numCache>
                <c:formatCode>General</c:formatCode>
                <c:ptCount val="20"/>
                <c:pt idx="0">
                  <c:v>1.942813158</c:v>
                </c:pt>
                <c:pt idx="1">
                  <c:v>1.4187227488</c:v>
                </c:pt>
                <c:pt idx="2">
                  <c:v>1.165009141</c:v>
                </c:pt>
                <c:pt idx="3">
                  <c:v>1.0011347532</c:v>
                </c:pt>
                <c:pt idx="4">
                  <c:v>0.8703654408</c:v>
                </c:pt>
                <c:pt idx="5">
                  <c:v>0.7626750469</c:v>
                </c:pt>
                <c:pt idx="6">
                  <c:v>0.6611891985</c:v>
                </c:pt>
                <c:pt idx="7">
                  <c:v>0.5838952661</c:v>
                </c:pt>
                <c:pt idx="8">
                  <c:v>0.5110832453</c:v>
                </c:pt>
                <c:pt idx="9">
                  <c:v>0.437577486</c:v>
                </c:pt>
                <c:pt idx="10">
                  <c:v>0.3782276809</c:v>
                </c:pt>
                <c:pt idx="11">
                  <c:v>0.3322435319</c:v>
                </c:pt>
                <c:pt idx="12">
                  <c:v>0.2946797013</c:v>
                </c:pt>
                <c:pt idx="13">
                  <c:v>0.2549602985</c:v>
                </c:pt>
                <c:pt idx="14">
                  <c:v>0.2241903394</c:v>
                </c:pt>
                <c:pt idx="15">
                  <c:v>0.1991875619</c:v>
                </c:pt>
                <c:pt idx="16">
                  <c:v>0.1701830477</c:v>
                </c:pt>
                <c:pt idx="17">
                  <c:v>0.1475074887</c:v>
                </c:pt>
                <c:pt idx="18">
                  <c:v>0.1324228197</c:v>
                </c:pt>
                <c:pt idx="19">
                  <c:v>0.1178104579</c:v>
                </c:pt>
              </c:numCache>
            </c:numRef>
          </c:val>
          <c:smooth val="0"/>
        </c:ser>
        <c:ser>
          <c:idx val="2"/>
          <c:order val="2"/>
          <c:tx>
            <c:v>C: 512 / 256 / 128</c:v>
          </c:tx>
          <c:spPr>
            <a:ln xmlns:a="http://schemas.openxmlformats.org/drawingml/2006/main" w="28575">
              <a:solidFill>
                <a:srgbClr val="17324D"/>
              </a:solidFill>
            </a:ln>
          </c:spPr>
          <c:marker>
            <c:symbol val="none"/>
          </c:marker>
          <c:cat>
            <c:numRef>
              <c:f>'Chart Data'!$E$2:$E$21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Data'!$F$2:$F$21</c:f>
              <c:numCache>
                <c:formatCode>General</c:formatCode>
                <c:ptCount val="20"/>
                <c:pt idx="0">
                  <c:v>1.547293067</c:v>
                </c:pt>
                <c:pt idx="1">
                  <c:v>1.042501688</c:v>
                </c:pt>
                <c:pt idx="2">
                  <c:v>0.6864696145</c:v>
                </c:pt>
                <c:pt idx="3">
                  <c:v>0.5098714232</c:v>
                </c:pt>
                <c:pt idx="4">
                  <c:v>0.3010273576</c:v>
                </c:pt>
                <c:pt idx="5">
                  <c:v>0.2087464184</c:v>
                </c:pt>
                <c:pt idx="6">
                  <c:v>0.2049763501</c:v>
                </c:pt>
                <c:pt idx="7">
                  <c:v>0.1084814593</c:v>
                </c:pt>
                <c:pt idx="8">
                  <c:v>0.0847526193</c:v>
                </c:pt>
                <c:pt idx="9">
                  <c:v>0.0526015237</c:v>
                </c:pt>
                <c:pt idx="10">
                  <c:v>0.0292108208</c:v>
                </c:pt>
                <c:pt idx="11">
                  <c:v>0.0240982659</c:v>
                </c:pt>
                <c:pt idx="12">
                  <c:v>0.0593008548</c:v>
                </c:pt>
                <c:pt idx="13">
                  <c:v>0.1008098349</c:v>
                </c:pt>
                <c:pt idx="14">
                  <c:v>0.0054576471</c:v>
                </c:pt>
                <c:pt idx="15">
                  <c:v>0.0043679369</c:v>
                </c:pt>
                <c:pt idx="16">
                  <c:v>0.0038096674</c:v>
                </c:pt>
                <c:pt idx="17">
                  <c:v>0.003277438</c:v>
                </c:pt>
                <c:pt idx="18">
                  <c:v>0.0028194343</c:v>
                </c:pt>
                <c:pt idx="19">
                  <c:v>0.0024432624</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AE2E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b="1">
                <a:solidFill>
                  <a:srgbClr val="17324D"/>
                </a:solidFill>
                <a:latin typeface="Arial"/>
                <a:ea typeface="Arial"/>
                <a:cs typeface="Arial"/>
              </a:rPr>
              <a:t>Accuracy de validación</a:t>
            </a:r>
          </a:p>
        </c:rich>
      </c:tx>
      <c:overlay val="0"/>
      <c:txPr>
        <a:bodyPr xmlns:a="http://schemas.openxmlformats.org/drawingml/2006/main" anchorCtr="1"/>
        <a:lstStyle xmlns:a="http://schemas.openxmlformats.org/drawingml/2006/main"/>
        <a:p xmlns:a="http://schemas.openxmlformats.org/drawingml/2006/main">
          <a:pPr>
            <a:defRPr sz="2100" b="1">
              <a:solidFill>
                <a:srgbClr val="17324D"/>
              </a:solidFill>
              <a:latin typeface="Arial"/>
              <a:ea typeface="Arial"/>
              <a:cs typeface="Arial"/>
            </a:defRPr>
          </a:pPr>
        </a:p>
      </c:txPr>
    </c:title>
    <c:plotArea>
      <c:lineChart>
        <c:grouping val="standard"/>
        <c:varyColors val="0"/>
        <c:ser>
          <c:idx val="0"/>
          <c:order val="0"/>
          <c:tx>
            <c:v>A: 32</c:v>
          </c:tx>
          <c:spPr>
            <a:ln xmlns:a="http://schemas.openxmlformats.org/drawingml/2006/main" w="28575">
              <a:solidFill>
                <a:srgbClr val="AF5828"/>
              </a:solidFill>
            </a:ln>
          </c:spPr>
          <c:marker>
            <c:symbol val="none"/>
          </c:marker>
          <c:cat>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Data'!$B$2:$B$21</c:f>
              <c:numCache>
                <c:formatCode>0%</c:formatCode>
                <c:ptCount val="20"/>
                <c:pt idx="0">
                  <c:v>0.2332908362</c:v>
                </c:pt>
                <c:pt idx="1">
                  <c:v>0.3389182389</c:v>
                </c:pt>
                <c:pt idx="2">
                  <c:v>0.3891822994</c:v>
                </c:pt>
                <c:pt idx="3">
                  <c:v>0.4418138862</c:v>
                </c:pt>
                <c:pt idx="4">
                  <c:v>0.4718630612</c:v>
                </c:pt>
                <c:pt idx="5">
                  <c:v>0.4968129694</c:v>
                </c:pt>
                <c:pt idx="6">
                  <c:v>0.5175741911</c:v>
                </c:pt>
                <c:pt idx="7">
                  <c:v>0.5379711986</c:v>
                </c:pt>
                <c:pt idx="8">
                  <c:v>0.5518120527</c:v>
                </c:pt>
                <c:pt idx="9">
                  <c:v>0.5645601749</c:v>
                </c:pt>
                <c:pt idx="10">
                  <c:v>0.5789473653</c:v>
                </c:pt>
                <c:pt idx="11">
                  <c:v>0.589692235</c:v>
                </c:pt>
                <c:pt idx="12">
                  <c:v>0.5975232124</c:v>
                </c:pt>
                <c:pt idx="13">
                  <c:v>0.6042615175</c:v>
                </c:pt>
                <c:pt idx="14">
                  <c:v>0.6130030751</c:v>
                </c:pt>
                <c:pt idx="15">
                  <c:v>0.6222910285</c:v>
                </c:pt>
                <c:pt idx="16">
                  <c:v>0.6348570585</c:v>
                </c:pt>
                <c:pt idx="17">
                  <c:v>0.6439628601</c:v>
                </c:pt>
                <c:pt idx="18">
                  <c:v>0.6496084332</c:v>
                </c:pt>
                <c:pt idx="19">
                  <c:v>0.6559824944</c:v>
                </c:pt>
              </c:numCache>
            </c:numRef>
          </c:val>
          <c:smooth val="0"/>
        </c:ser>
        <c:ser>
          <c:idx val="1"/>
          <c:order val="1"/>
          <c:tx>
            <c:v>B: 128 / 64</c:v>
          </c:tx>
          <c:spPr>
            <a:ln xmlns:a="http://schemas.openxmlformats.org/drawingml/2006/main" w="28575">
              <a:solidFill>
                <a:srgbClr val="087F8C"/>
              </a:solidFill>
            </a:ln>
          </c:spPr>
          <c:marker>
            <c:symbol val="none"/>
          </c:marker>
          <c:cat>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Data'!$D$2:$D$21</c:f>
              <c:numCache>
                <c:formatCode>0%</c:formatCode>
                <c:ptCount val="20"/>
                <c:pt idx="0">
                  <c:v>0.4219632149</c:v>
                </c:pt>
                <c:pt idx="1">
                  <c:v>0.5561828613</c:v>
                </c:pt>
                <c:pt idx="2">
                  <c:v>0.6290293336</c:v>
                </c:pt>
                <c:pt idx="3">
                  <c:v>0.6761974096</c:v>
                </c:pt>
                <c:pt idx="4">
                  <c:v>0.7158987522</c:v>
                </c:pt>
                <c:pt idx="5">
                  <c:v>0.7548716068</c:v>
                </c:pt>
                <c:pt idx="6">
                  <c:v>0.7871061563</c:v>
                </c:pt>
                <c:pt idx="7">
                  <c:v>0.8136951327</c:v>
                </c:pt>
                <c:pt idx="8">
                  <c:v>0.8406483531</c:v>
                </c:pt>
                <c:pt idx="9">
                  <c:v>0.8787106276</c:v>
                </c:pt>
                <c:pt idx="10">
                  <c:v>0.9007467031</c:v>
                </c:pt>
                <c:pt idx="11">
                  <c:v>0.9158623219</c:v>
                </c:pt>
                <c:pt idx="12">
                  <c:v>0.9258787036</c:v>
                </c:pt>
                <c:pt idx="13">
                  <c:v>0.9415407181</c:v>
                </c:pt>
                <c:pt idx="14">
                  <c:v>0.9488253593</c:v>
                </c:pt>
                <c:pt idx="15">
                  <c:v>0.9551994205</c:v>
                </c:pt>
                <c:pt idx="16">
                  <c:v>0.9619377255</c:v>
                </c:pt>
                <c:pt idx="17">
                  <c:v>0.9706792831</c:v>
                </c:pt>
                <c:pt idx="18">
                  <c:v>0.9739573598</c:v>
                </c:pt>
                <c:pt idx="19">
                  <c:v>0.9779639244</c:v>
                </c:pt>
              </c:numCache>
            </c:numRef>
          </c:val>
          <c:smooth val="0"/>
        </c:ser>
        <c:ser>
          <c:idx val="2"/>
          <c:order val="2"/>
          <c:tx>
            <c:v>C: 512 / 256 / 128</c:v>
          </c:tx>
          <c:spPr>
            <a:ln xmlns:a="http://schemas.openxmlformats.org/drawingml/2006/main" w="28575">
              <a:solidFill>
                <a:srgbClr val="17324D"/>
              </a:solidFill>
            </a:ln>
          </c:spPr>
          <c:marker>
            <c:symbol val="none"/>
          </c:marker>
          <c:cat>
            <c:numRef>
              <c:f>'Chart Data'!$E$2:$E$21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cat>
          <c:val>
            <c:numRef>
              <c:f>'Chart Data'!$F$2:$F$21</c:f>
              <c:numCache>
                <c:formatCode>0%</c:formatCode>
                <c:ptCount val="20"/>
                <c:pt idx="0">
                  <c:v>0.5162994266</c:v>
                </c:pt>
                <c:pt idx="1">
                  <c:v>0.6512475014</c:v>
                </c:pt>
                <c:pt idx="2">
                  <c:v>0.7834638357</c:v>
                </c:pt>
                <c:pt idx="3">
                  <c:v>0.839373529</c:v>
                </c:pt>
                <c:pt idx="4">
                  <c:v>0.9065743685</c:v>
                </c:pt>
                <c:pt idx="5">
                  <c:v>0.9377162457</c:v>
                </c:pt>
                <c:pt idx="6">
                  <c:v>0.9318885207</c:v>
                </c:pt>
                <c:pt idx="7">
                  <c:v>0.970497191</c:v>
                </c:pt>
                <c:pt idx="8">
                  <c:v>0.9799672365</c:v>
                </c:pt>
                <c:pt idx="9">
                  <c:v>0.9899836183</c:v>
                </c:pt>
                <c:pt idx="10">
                  <c:v>0.9959934354</c:v>
                </c:pt>
                <c:pt idx="11">
                  <c:v>0.9974503517</c:v>
                </c:pt>
                <c:pt idx="12">
                  <c:v>0.9814241529</c:v>
                </c:pt>
                <c:pt idx="13">
                  <c:v>0.9632125497</c:v>
                </c:pt>
                <c:pt idx="14">
                  <c:v>1</c:v>
                </c:pt>
                <c:pt idx="15">
                  <c:v>1</c:v>
                </c:pt>
                <c:pt idx="16">
                  <c:v>1</c:v>
                </c:pt>
                <c:pt idx="17">
                  <c:v>1</c:v>
                </c:pt>
                <c:pt idx="18">
                  <c:v>1</c:v>
                </c:pt>
                <c:pt idx="19">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E2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087F8C"/>
            </a:solidFill>
          </c:spPr>
          <c:dPt>
            <c:idx val="0"/>
            <c:invertIfNegative val="0"/>
            <c:spPr>
              <a:solidFill xmlns:a="http://schemas.openxmlformats.org/drawingml/2006/main">
                <a:srgbClr val="17324D"/>
              </a:solidFill>
            </c:spPr>
          </c:dPt>
          <c:dPt>
            <c:idx val="1"/>
            <c:invertIfNegative val="0"/>
            <c:spPr>
              <a:solidFill xmlns:a="http://schemas.openxmlformats.org/drawingml/2006/main">
                <a:srgbClr val="087F8C"/>
              </a:solidFill>
            </c:spPr>
          </c:dPt>
          <c:cat>
            <c:strRef>
              <c:f>'Chart Data'!$A$2:$A$3</c:f>
              <c:strCache>
                <c:ptCount val="2"/>
                <c:pt idx="0">
                  <c:v>Validación</c:v>
                </c:pt>
                <c:pt idx="1">
                  <c:v>Test</c:v>
                </c:pt>
              </c:strCache>
            </c:strRef>
          </c:cat>
          <c:val>
            <c:numRef>
              <c:f>'Chart Data'!$B$2:$B$3</c:f>
              <c:numCache>
                <c:formatCode>0.00%</c:formatCode>
                <c:ptCount val="2"/>
                <c:pt idx="0">
                  <c:v>1</c:v>
                </c:pt>
                <c:pt idx="1">
                  <c:v>0.7971277237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FFFFFF"/>
                  </a:solidFill>
                  <a:latin typeface="Arial"/>
                  <a:ea typeface="Arial"/>
                  <a:cs typeface="Arial"/>
                </a:defRPr>
              </a:pPr>
            </a:p>
          </c:txPr>
          <c:dLblPos val="in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majorUnit val="0.2"/>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65BB89-6439-4AE6-B850-D27ABC22BCD7}"/>
              </a:ext>
            </a:extLst>
          </p:cNvPr>
          <p:cNvSpPr>
            <a:spLocks xmlns:a="http://schemas.openxmlformats.org/drawingml/2006/main" noGrp="1"/>
          </p:cNvSpPr>
          <p:nvPr/>
        </p:nvSpPr>
        <p:spPr>
          <a:xfrm xmlns:a="http://schemas.openxmlformats.org/drawingml/2006/main">
            <a:off x="609600" y="1047750"/>
            <a:ext cx="58102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17324D"/>
                </a:solidFill>
                <a:latin typeface="Arial"/>
                <a:ea typeface="Arial"/>
                <a:cs typeface="Arial"/>
              </a:defRPr>
            </a:pPr>
            <a:r>
              <a:rPr sz="4950" b="1">
                <a:solidFill>
                  <a:srgbClr val="17324D"/>
                </a:solidFill>
                <a:latin typeface="Arial"/>
                <a:ea typeface="Arial"/>
                <a:cs typeface="Arial"/>
              </a:rPr>
              <a:t>Sign Language</a:t>
            </a:r>
          </a:p>
          <a:p xmlns:a="http://schemas.openxmlformats.org/drawingml/2006/main">
            <a:pPr>
              <a:defRPr sz="4950" b="1">
                <a:solidFill>
                  <a:srgbClr val="17324D"/>
                </a:solidFill>
                <a:latin typeface="Arial"/>
                <a:ea typeface="Arial"/>
                <a:cs typeface="Arial"/>
              </a:defRPr>
            </a:pPr>
            <a:r>
              <a:rPr sz="4950" b="1">
                <a:solidFill>
                  <a:srgbClr val="17324D"/>
                </a:solidFill>
                <a:latin typeface="Arial"/>
                <a:ea typeface="Arial"/>
                <a:cs typeface="Arial"/>
              </a:rPr>
              <a:t>MNIST</a:t>
            </a:r>
          </a:p>
        </p:txBody>
      </p:sp>
      <p:sp>
        <p:nvSpPr>
          <p:cNvPr id="2" name="">
            <a:extLst xmlns:a="http://schemas.openxmlformats.org/drawingml/2006/main">
              <a:ext uri="{FF2B5EF4-FFF2-40B4-BE49-F238E27FC236}">
                <a16:creationId xmlns:a16="http://schemas.microsoft.com/office/drawing/2014/main" id="{51932C6A-BBBC-4F98-9A32-7491B8D5B9FC}"/>
              </a:ext>
            </a:extLst>
          </p:cNvPr>
          <p:cNvSpPr>
            <a:spLocks xmlns:a="http://schemas.openxmlformats.org/drawingml/2006/main" noGrp="1"/>
          </p:cNvSpPr>
          <p:nvPr/>
        </p:nvSpPr>
        <p:spPr>
          <a:xfrm xmlns:a="http://schemas.openxmlformats.org/drawingml/2006/main">
            <a:off x="609600" y="3095625"/>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087F8C"/>
                </a:solidFill>
                <a:latin typeface="Arial"/>
                <a:ea typeface="Arial"/>
                <a:cs typeface="Arial"/>
              </a:defRPr>
            </a:pPr>
            <a:r>
              <a:rPr sz="2850" b="0">
                <a:solidFill>
                  <a:srgbClr val="087F8C"/>
                </a:solidFill>
                <a:latin typeface="Arial"/>
                <a:ea typeface="Arial"/>
                <a:cs typeface="Arial"/>
              </a:rPr>
              <a:t>Clasificación con MLP</a:t>
            </a:r>
          </a:p>
        </p:txBody>
      </p:sp>
      <p:sp>
        <p:nvSpPr>
          <p:cNvPr id="3" name="">
            <a:extLst xmlns:a="http://schemas.openxmlformats.org/drawingml/2006/main">
              <a:ext uri="{FF2B5EF4-FFF2-40B4-BE49-F238E27FC236}">
                <a16:creationId xmlns:a16="http://schemas.microsoft.com/office/drawing/2014/main" id="{8535C95B-0321-455E-9B0C-BE5CDDDF8123}"/>
              </a:ext>
            </a:extLst>
          </p:cNvPr>
          <p:cNvSpPr>
            <a:spLocks xmlns:a="http://schemas.openxmlformats.org/drawingml/2006/main" noGrp="1"/>
          </p:cNvSpPr>
          <p:nvPr/>
        </p:nvSpPr>
        <p:spPr>
          <a:xfrm xmlns:a="http://schemas.openxmlformats.org/drawingml/2006/main">
            <a:off x="609600" y="3857625"/>
            <a:ext cx="547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Reconocimiento de 24 letras</a:t>
            </a:r>
          </a:p>
          <a:p xmlns:a="http://schemas.openxmlformats.org/drawingml/2006/main">
            <a:pPr>
              <a:defRPr sz="2250" b="0">
                <a:solidFill>
                  <a:srgbClr val="17324D"/>
                </a:solidFill>
                <a:latin typeface="Arial"/>
                <a:ea typeface="Arial"/>
                <a:cs typeface="Arial"/>
              </a:defRPr>
            </a:pPr>
            <a:r>
              <a:rPr sz="2250" b="0">
                <a:solidFill>
                  <a:srgbClr val="17324D"/>
                </a:solidFill>
                <a:latin typeface="Arial"/>
                <a:ea typeface="Arial"/>
                <a:cs typeface="Arial"/>
              </a:rPr>
              <a:t>estáticas de ASL</a:t>
            </a:r>
          </a:p>
        </p:txBody>
      </p:sp>
      <p:sp>
        <p:nvSpPr>
          <p:cNvPr id="4" name="">
            <a:extLst xmlns:a="http://schemas.openxmlformats.org/drawingml/2006/main">
              <a:ext uri="{FF2B5EF4-FFF2-40B4-BE49-F238E27FC236}">
                <a16:creationId xmlns:a16="http://schemas.microsoft.com/office/drawing/2014/main" id="{3B97649D-0009-49BB-A044-B9B0190BD0F2}"/>
              </a:ext>
            </a:extLst>
          </p:cNvPr>
          <p:cNvSpPr>
            <a:spLocks xmlns:a="http://schemas.openxmlformats.org/drawingml/2006/main" noGrp="1"/>
          </p:cNvSpPr>
          <p:nvPr/>
        </p:nvSpPr>
        <p:spPr>
          <a:xfrm xmlns:a="http://schemas.openxmlformats.org/drawingml/2006/main">
            <a:off x="609600" y="54292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E5C68"/>
                </a:solidFill>
                <a:latin typeface="Arial"/>
                <a:ea typeface="Arial"/>
                <a:cs typeface="Arial"/>
              </a:defRPr>
            </a:pPr>
            <a:r>
              <a:rPr sz="1800" b="0">
                <a:solidFill>
                  <a:srgbClr val="4E5C68"/>
                </a:solidFill>
                <a:latin typeface="Arial"/>
                <a:ea typeface="Arial"/>
                <a:cs typeface="Arial"/>
              </a:rPr>
              <a:t>Gonzalo, Jenaro y Jason</a:t>
            </a:r>
          </a:p>
          <a:p xmlns:a="http://schemas.openxmlformats.org/drawingml/2006/main">
            <a:pPr>
              <a:defRPr sz="1800" b="0">
                <a:solidFill>
                  <a:srgbClr val="4E5C68"/>
                </a:solidFill>
                <a:latin typeface="Arial"/>
                <a:ea typeface="Arial"/>
                <a:cs typeface="Arial"/>
              </a:defRPr>
            </a:pPr>
            <a:r>
              <a:rPr sz="1800" b="0">
                <a:solidFill>
                  <a:srgbClr val="4E5C68"/>
                </a:solidFill>
                <a:latin typeface="Arial"/>
                <a:ea typeface="Arial"/>
                <a:cs typeface="Arial"/>
              </a:rPr>
              <a:t>TLY1102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033e6720cea407d"/>
          <a:stretch xmlns:a="http://schemas.openxmlformats.org/drawingml/2006/main"/>
        </p:blipFill>
        <p:spPr>
          <a:xfrm xmlns:a="http://schemas.openxmlformats.org/drawingml/2006/main">
            <a:off x="6781800" y="1474611"/>
            <a:ext cx="4762500" cy="3527778"/>
          </a:xfrm>
          <a:prstGeom xmlns:a="http://schemas.openxmlformats.org/drawingml/2006/main" prst="rect">
            <a:avLst/>
          </a:prstGeom>
        </p:spPr>
      </p:pic>
    </p:spTree>
    <p:extLst>
      <p:ext uri="{BB962C8B-B14F-4D97-AF65-F5344CB8AC3E}">
        <p14:creationId xmlns:p14="http://schemas.microsoft.com/office/powerpoint/2010/main" val="17719866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E5B8F2-D206-4961-8490-3CA85D88358A}"/>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El dataset Sign Language MNIST</a:t>
            </a:r>
          </a:p>
        </p:txBody>
      </p:sp>
      <p:sp>
        <p:nvSpPr>
          <p:cNvPr id="2" name="">
            <a:extLst xmlns:a="http://schemas.openxmlformats.org/drawingml/2006/main">
              <a:ext uri="{FF2B5EF4-FFF2-40B4-BE49-F238E27FC236}">
                <a16:creationId xmlns:a16="http://schemas.microsoft.com/office/drawing/2014/main" id="{6E51B2E6-EE0C-4C7E-991C-8EF68F4DD8FB}"/>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2 / 10</a:t>
            </a:r>
          </a:p>
        </p:txBody>
      </p:sp>
      <p:sp>
        <p:nvSpPr>
          <p:cNvPr id="3" name="">
            <a:extLst xmlns:a="http://schemas.openxmlformats.org/drawingml/2006/main">
              <a:ext uri="{FF2B5EF4-FFF2-40B4-BE49-F238E27FC236}">
                <a16:creationId xmlns:a16="http://schemas.microsoft.com/office/drawing/2014/main" id="{7E641A3A-7E60-448F-87CD-3F934D76F177}"/>
              </a:ext>
            </a:extLst>
          </p:cNvPr>
          <p:cNvSpPr>
            <a:spLocks xmlns:a="http://schemas.openxmlformats.org/drawingml/2006/main" noGrp="1"/>
          </p:cNvSpPr>
          <p:nvPr/>
        </p:nvSpPr>
        <p:spPr>
          <a:xfrm xmlns:a="http://schemas.openxmlformats.org/drawingml/2006/main">
            <a:off x="609600" y="15335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28 × 28 píxeles</a:t>
            </a:r>
          </a:p>
        </p:txBody>
      </p:sp>
      <p:sp>
        <p:nvSpPr>
          <p:cNvPr id="4" name="">
            <a:extLst xmlns:a="http://schemas.openxmlformats.org/drawingml/2006/main">
              <a:ext uri="{FF2B5EF4-FFF2-40B4-BE49-F238E27FC236}">
                <a16:creationId xmlns:a16="http://schemas.microsoft.com/office/drawing/2014/main" id="{5C86049B-1C31-4DCA-B922-EFE53D24CFB2}"/>
              </a:ext>
            </a:extLst>
          </p:cNvPr>
          <p:cNvSpPr>
            <a:spLocks xmlns:a="http://schemas.openxmlformats.org/drawingml/2006/main" noGrp="1"/>
          </p:cNvSpPr>
          <p:nvPr/>
        </p:nvSpPr>
        <p:spPr>
          <a:xfrm xmlns:a="http://schemas.openxmlformats.org/drawingml/2006/main">
            <a:off x="609600" y="20859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Escala de grises</a:t>
            </a:r>
          </a:p>
        </p:txBody>
      </p:sp>
      <p:sp>
        <p:nvSpPr>
          <p:cNvPr id="5" name="">
            <a:extLst xmlns:a="http://schemas.openxmlformats.org/drawingml/2006/main">
              <a:ext uri="{FF2B5EF4-FFF2-40B4-BE49-F238E27FC236}">
                <a16:creationId xmlns:a16="http://schemas.microsoft.com/office/drawing/2014/main" id="{232C1B89-6670-4D5E-9D1D-891A585D4925}"/>
              </a:ext>
            </a:extLst>
          </p:cNvPr>
          <p:cNvSpPr>
            <a:spLocks xmlns:a="http://schemas.openxmlformats.org/drawingml/2006/main" noGrp="1"/>
          </p:cNvSpPr>
          <p:nvPr/>
        </p:nvSpPr>
        <p:spPr>
          <a:xfrm xmlns:a="http://schemas.openxmlformats.org/drawingml/2006/main">
            <a:off x="4486275" y="15335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27.455 imágenes</a:t>
            </a:r>
          </a:p>
        </p:txBody>
      </p:sp>
      <p:sp>
        <p:nvSpPr>
          <p:cNvPr id="6" name="">
            <a:extLst xmlns:a="http://schemas.openxmlformats.org/drawingml/2006/main">
              <a:ext uri="{FF2B5EF4-FFF2-40B4-BE49-F238E27FC236}">
                <a16:creationId xmlns:a16="http://schemas.microsoft.com/office/drawing/2014/main" id="{08F416A2-FD91-4642-9909-FC0752B004C4}"/>
              </a:ext>
            </a:extLst>
          </p:cNvPr>
          <p:cNvSpPr>
            <a:spLocks xmlns:a="http://schemas.openxmlformats.org/drawingml/2006/main" noGrp="1"/>
          </p:cNvSpPr>
          <p:nvPr/>
        </p:nvSpPr>
        <p:spPr>
          <a:xfrm xmlns:a="http://schemas.openxmlformats.org/drawingml/2006/main">
            <a:off x="4486275" y="20859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Entrenamiento oficial</a:t>
            </a:r>
          </a:p>
        </p:txBody>
      </p:sp>
      <p:sp>
        <p:nvSpPr>
          <p:cNvPr id="7" name="">
            <a:extLst xmlns:a="http://schemas.openxmlformats.org/drawingml/2006/main">
              <a:ext uri="{FF2B5EF4-FFF2-40B4-BE49-F238E27FC236}">
                <a16:creationId xmlns:a16="http://schemas.microsoft.com/office/drawing/2014/main" id="{DD6BEE6E-4CAD-43C5-B8E7-DFE063FBBC50}"/>
              </a:ext>
            </a:extLst>
          </p:cNvPr>
          <p:cNvSpPr>
            <a:spLocks xmlns:a="http://schemas.openxmlformats.org/drawingml/2006/main" noGrp="1"/>
          </p:cNvSpPr>
          <p:nvPr/>
        </p:nvSpPr>
        <p:spPr>
          <a:xfrm xmlns:a="http://schemas.openxmlformats.org/drawingml/2006/main">
            <a:off x="8601075" y="1533525"/>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7.172 imágenes</a:t>
            </a:r>
          </a:p>
        </p:txBody>
      </p:sp>
      <p:sp>
        <p:nvSpPr>
          <p:cNvPr id="8" name="">
            <a:extLst xmlns:a="http://schemas.openxmlformats.org/drawingml/2006/main">
              <a:ext uri="{FF2B5EF4-FFF2-40B4-BE49-F238E27FC236}">
                <a16:creationId xmlns:a16="http://schemas.microsoft.com/office/drawing/2014/main" id="{3A8B8662-A626-4302-8364-1D88917FBDEC}"/>
              </a:ext>
            </a:extLst>
          </p:cNvPr>
          <p:cNvSpPr>
            <a:spLocks xmlns:a="http://schemas.openxmlformats.org/drawingml/2006/main" noGrp="1"/>
          </p:cNvSpPr>
          <p:nvPr/>
        </p:nvSpPr>
        <p:spPr>
          <a:xfrm xmlns:a="http://schemas.openxmlformats.org/drawingml/2006/main">
            <a:off x="8601075" y="20859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24D"/>
                </a:solidFill>
                <a:latin typeface="Arial"/>
                <a:ea typeface="Arial"/>
                <a:cs typeface="Arial"/>
              </a:defRPr>
            </a:pPr>
            <a:r>
              <a:rPr sz="2025" b="0">
                <a:solidFill>
                  <a:srgbClr val="17324D"/>
                </a:solidFill>
                <a:latin typeface="Arial"/>
                <a:ea typeface="Arial"/>
                <a:cs typeface="Arial"/>
              </a:rPr>
              <a:t>Test oficial</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46560e0b92742c5"/>
          <a:stretch xmlns:a="http://schemas.openxmlformats.org/drawingml/2006/main"/>
        </p:blipFill>
        <p:spPr>
          <a:xfrm xmlns:a="http://schemas.openxmlformats.org/drawingml/2006/main">
            <a:off x="1671970" y="2762250"/>
            <a:ext cx="8771860" cy="31432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4F84C16-F4B0-4238-904C-B615896C5379}"/>
              </a:ext>
            </a:extLst>
          </p:cNvPr>
          <p:cNvSpPr>
            <a:spLocks xmlns:a="http://schemas.openxmlformats.org/drawingml/2006/main" noGrp="1"/>
          </p:cNvSpPr>
          <p:nvPr/>
        </p:nvSpPr>
        <p:spPr>
          <a:xfrm xmlns:a="http://schemas.openxmlformats.org/drawingml/2006/main">
            <a:off x="609600" y="59436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5C68"/>
                </a:solidFill>
                <a:latin typeface="Arial"/>
                <a:ea typeface="Arial"/>
                <a:cs typeface="Arial"/>
              </a:defRPr>
            </a:pPr>
            <a:r>
              <a:rPr sz="1875" b="0">
                <a:solidFill>
                  <a:srgbClr val="4E5C68"/>
                </a:solidFill>
                <a:latin typeface="Arial"/>
                <a:ea typeface="Arial"/>
                <a:cs typeface="Arial"/>
              </a:rPr>
              <a:t>24 clases: A–I y K–Y. J y Z requieren movimiento y no están incluidas.</a:t>
            </a:r>
          </a:p>
        </p:txBody>
      </p:sp>
    </p:spTree>
    <p:extLst>
      <p:ext uri="{BB962C8B-B14F-4D97-AF65-F5344CB8AC3E}">
        <p14:creationId xmlns:p14="http://schemas.microsoft.com/office/powerpoint/2010/main" val="14224716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9FC669-ACB5-4771-ADFF-29F03F91DCD8}"/>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Preparación y separación de los datos</a:t>
            </a:r>
          </a:p>
        </p:txBody>
      </p:sp>
      <p:sp>
        <p:nvSpPr>
          <p:cNvPr id="2" name="">
            <a:extLst xmlns:a="http://schemas.openxmlformats.org/drawingml/2006/main">
              <a:ext uri="{FF2B5EF4-FFF2-40B4-BE49-F238E27FC236}">
                <a16:creationId xmlns:a16="http://schemas.microsoft.com/office/drawing/2014/main" id="{1A1EEC57-E751-477E-A21C-6F5E9396C7F2}"/>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3 / 10</a:t>
            </a:r>
          </a:p>
        </p:txBody>
      </p:sp>
      <p:sp>
        <p:nvSpPr>
          <p:cNvPr id="3" name="">
            <a:extLst xmlns:a="http://schemas.openxmlformats.org/drawingml/2006/main">
              <a:ext uri="{FF2B5EF4-FFF2-40B4-BE49-F238E27FC236}">
                <a16:creationId xmlns:a16="http://schemas.microsoft.com/office/drawing/2014/main" id="{E26C8513-18D5-490A-B0EC-28AF255ACB7F}"/>
              </a:ext>
            </a:extLst>
          </p:cNvPr>
          <p:cNvSpPr>
            <a:spLocks xmlns:a="http://schemas.openxmlformats.org/drawingml/2006/main" noGrp="1"/>
          </p:cNvSpPr>
          <p:nvPr/>
        </p:nvSpPr>
        <p:spPr>
          <a:xfrm xmlns:a="http://schemas.openxmlformats.org/drawingml/2006/main">
            <a:off x="609600" y="147637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Normalización: píxel / 255</a:t>
            </a:r>
          </a:p>
        </p:txBody>
      </p:sp>
      <p:sp>
        <p:nvSpPr>
          <p:cNvPr id="4" name="">
            <a:extLst xmlns:a="http://schemas.openxmlformats.org/drawingml/2006/main">
              <a:ext uri="{FF2B5EF4-FFF2-40B4-BE49-F238E27FC236}">
                <a16:creationId xmlns:a16="http://schemas.microsoft.com/office/drawing/2014/main" id="{BBE04DB7-E79A-4D02-BB38-822DFB7B20F3}"/>
              </a:ext>
            </a:extLst>
          </p:cNvPr>
          <p:cNvSpPr>
            <a:spLocks xmlns:a="http://schemas.openxmlformats.org/drawingml/2006/main" noGrp="1"/>
          </p:cNvSpPr>
          <p:nvPr/>
        </p:nvSpPr>
        <p:spPr>
          <a:xfrm xmlns:a="http://schemas.openxmlformats.org/drawingml/2006/main">
            <a:off x="609600" y="20002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Valores entre 0 y 1. Entrada de 784 píxeles.</a:t>
            </a:r>
          </a:p>
        </p:txBody>
      </p:sp>
      <p:sp>
        <p:nvSpPr>
          <p:cNvPr id="5" name="">
            <a:extLst xmlns:a="http://schemas.openxmlformats.org/drawingml/2006/main">
              <a:ext uri="{FF2B5EF4-FFF2-40B4-BE49-F238E27FC236}">
                <a16:creationId xmlns:a16="http://schemas.microsoft.com/office/drawing/2014/main" id="{3217ED7F-A605-4172-A61F-62A7D5042130}"/>
              </a:ext>
            </a:extLst>
          </p:cNvPr>
          <p:cNvSpPr>
            <a:spLocks xmlns:a="http://schemas.openxmlformats.org/drawingml/2006/main" noGrp="1"/>
          </p:cNvSpPr>
          <p:nvPr/>
        </p:nvSpPr>
        <p:spPr>
          <a:xfrm xmlns:a="http://schemas.openxmlformats.org/drawingml/2006/main">
            <a:off x="609600" y="25241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Etiquetas consecutivas y one-hot para 24 clases.</a:t>
            </a:r>
          </a:p>
        </p:txBody>
      </p:sp>
      <p:graphicFrame>
        <p:nvGraphicFramePr>
          <p:cNvPr id="13" name=""/>
          <p:cNvGraphicFramePr/>
          <p:nvPr/>
        </p:nvGraphicFramePr>
        <p:xfrm>
          <a:off xmlns:a="http://schemas.openxmlformats.org/drawingml/2006/main" x="609600" y="3286125"/>
          <a:ext xmlns:a="http://schemas.openxmlformats.org/drawingml/2006/main" cx="10972800" cy="2476500"/>
        </p:xfrm>
        <a:graphic xmlns:a="http://schemas.openxmlformats.org/drawingml/2006/main">
          <a:graphicData uri="http://schemas.openxmlformats.org/drawingml/2006/table">
            <a:tbl>
              <a:tblPr/>
              <a:tblGrid>
                <a:gridCol w="2857500"/>
                <a:gridCol w="2000250"/>
                <a:gridCol w="6115050"/>
              </a:tblGrid>
              <a:tr h="619125">
                <a:tc>
                  <a:txBody>
                    <a:bodyPr/>
                    <a:lstStyle/>
                    <a:p>
                      <a:r>
                        <a:rPr sz="1950" b="1">
                          <a:solidFill>
                            <a:srgbClr val="FFFFFF"/>
                          </a:solidFill>
                          <a:latin typeface="Arial"/>
                          <a:ea typeface="Arial"/>
                          <a:cs typeface="Arial"/>
                        </a:rPr>
                        <a:t>Conjunto</a:t>
                      </a:r>
                    </a:p>
                  </a:txBody>
                  <a:tcPr marL="91440" marR="91440" marT="45720" marB="45720">
                    <a:solidFill>
                      <a:srgbClr val="17324D"/>
                    </a:solidFill>
                  </a:tcPr>
                </a:tc>
                <a:tc>
                  <a:txBody>
                    <a:bodyPr/>
                    <a:lstStyle/>
                    <a:p>
                      <a:r>
                        <a:rPr sz="1950" b="1">
                          <a:solidFill>
                            <a:srgbClr val="FFFFFF"/>
                          </a:solidFill>
                          <a:latin typeface="Arial"/>
                          <a:ea typeface="Arial"/>
                          <a:cs typeface="Arial"/>
                        </a:rPr>
                        <a:t>Ejemplos</a:t>
                      </a:r>
                    </a:p>
                  </a:txBody>
                  <a:tcPr marL="91440" marR="91440" marT="45720" marB="45720">
                    <a:solidFill>
                      <a:srgbClr val="17324D"/>
                    </a:solidFill>
                  </a:tcPr>
                </a:tc>
                <a:tc>
                  <a:txBody>
                    <a:bodyPr/>
                    <a:lstStyle/>
                    <a:p>
                      <a:r>
                        <a:rPr sz="1950" b="1">
                          <a:solidFill>
                            <a:srgbClr val="FFFFFF"/>
                          </a:solidFill>
                          <a:latin typeface="Arial"/>
                          <a:ea typeface="Arial"/>
                          <a:cs typeface="Arial"/>
                        </a:rPr>
                        <a:t>Función</a:t>
                      </a:r>
                    </a:p>
                  </a:txBody>
                  <a:tcPr marL="91440" marR="91440" marT="45720" marB="45720">
                    <a:solidFill>
                      <a:srgbClr val="17324D"/>
                    </a:solidFill>
                  </a:tcPr>
                </a:tc>
              </a:tr>
              <a:tr h="619125">
                <a:tc>
                  <a:txBody>
                    <a:bodyPr/>
                    <a:lstStyle/>
                    <a:p>
                      <a:r>
                        <a:rPr sz="1950" b="0">
                          <a:solidFill>
                            <a:srgbClr val="17324D"/>
                          </a:solidFill>
                          <a:latin typeface="Arial"/>
                          <a:ea typeface="Arial"/>
                          <a:cs typeface="Arial"/>
                        </a:rPr>
                        <a:t>Entrenamiento</a:t>
                      </a:r>
                    </a:p>
                  </a:txBody>
                  <a:tcPr marL="91440" marR="91440" marT="45720" marB="45720">
                    <a:solidFill>
                      <a:srgbClr val="FFFFFF"/>
                    </a:solidFill>
                  </a:tcPr>
                </a:tc>
                <a:tc>
                  <a:txBody>
                    <a:bodyPr/>
                    <a:lstStyle/>
                    <a:p>
                      <a:r>
                        <a:rPr sz="1950" b="0">
                          <a:solidFill>
                            <a:srgbClr val="17324D"/>
                          </a:solidFill>
                          <a:latin typeface="Arial"/>
                          <a:ea typeface="Arial"/>
                          <a:cs typeface="Arial"/>
                        </a:rPr>
                        <a:t>21.964</a:t>
                      </a:r>
                    </a:p>
                  </a:txBody>
                  <a:tcPr marL="91440" marR="91440" marT="45720" marB="45720">
                    <a:solidFill>
                      <a:srgbClr val="FFFFFF"/>
                    </a:solidFill>
                  </a:tcPr>
                </a:tc>
                <a:tc>
                  <a:txBody>
                    <a:bodyPr/>
                    <a:lstStyle/>
                    <a:p>
                      <a:r>
                        <a:rPr sz="1950" b="0">
                          <a:solidFill>
                            <a:srgbClr val="17324D"/>
                          </a:solidFill>
                          <a:latin typeface="Arial"/>
                          <a:ea typeface="Arial"/>
                          <a:cs typeface="Arial"/>
                        </a:rPr>
                        <a:t>Ajustar los pesos</a:t>
                      </a:r>
                    </a:p>
                  </a:txBody>
                  <a:tcPr marL="91440" marR="91440" marT="45720" marB="45720">
                    <a:solidFill>
                      <a:srgbClr val="FFFFFF"/>
                    </a:solidFill>
                  </a:tcPr>
                </a:tc>
              </a:tr>
              <a:tr h="619125">
                <a:tc>
                  <a:txBody>
                    <a:bodyPr/>
                    <a:lstStyle/>
                    <a:p>
                      <a:r>
                        <a:rPr sz="1950" b="0">
                          <a:solidFill>
                            <a:srgbClr val="17324D"/>
                          </a:solidFill>
                          <a:latin typeface="Arial"/>
                          <a:ea typeface="Arial"/>
                          <a:cs typeface="Arial"/>
                        </a:rPr>
                        <a:t>Validación</a:t>
                      </a:r>
                    </a:p>
                  </a:txBody>
                  <a:tcPr marL="91440" marR="91440" marT="45720" marB="45720">
                    <a:solidFill>
                      <a:srgbClr val="EAF2F5"/>
                    </a:solidFill>
                  </a:tcPr>
                </a:tc>
                <a:tc>
                  <a:txBody>
                    <a:bodyPr/>
                    <a:lstStyle/>
                    <a:p>
                      <a:r>
                        <a:rPr sz="1950" b="0">
                          <a:solidFill>
                            <a:srgbClr val="17324D"/>
                          </a:solidFill>
                          <a:latin typeface="Arial"/>
                          <a:ea typeface="Arial"/>
                          <a:cs typeface="Arial"/>
                        </a:rPr>
                        <a:t>5.491</a:t>
                      </a:r>
                    </a:p>
                  </a:txBody>
                  <a:tcPr marL="91440" marR="91440" marT="45720" marB="45720">
                    <a:solidFill>
                      <a:srgbClr val="EAF2F5"/>
                    </a:solidFill>
                  </a:tcPr>
                </a:tc>
                <a:tc>
                  <a:txBody>
                    <a:bodyPr/>
                    <a:lstStyle/>
                    <a:p>
                      <a:r>
                        <a:rPr sz="1950" b="0">
                          <a:solidFill>
                            <a:srgbClr val="17324D"/>
                          </a:solidFill>
                          <a:latin typeface="Arial"/>
                          <a:ea typeface="Arial"/>
                          <a:cs typeface="Arial"/>
                        </a:rPr>
                        <a:t>Elegir la configuración</a:t>
                      </a:r>
                    </a:p>
                  </a:txBody>
                  <a:tcPr marL="91440" marR="91440" marT="45720" marB="45720">
                    <a:solidFill>
                      <a:srgbClr val="EAF2F5"/>
                    </a:solidFill>
                  </a:tcPr>
                </a:tc>
              </a:tr>
              <a:tr h="619125">
                <a:tc>
                  <a:txBody>
                    <a:bodyPr/>
                    <a:lstStyle/>
                    <a:p>
                      <a:r>
                        <a:rPr sz="1950" b="0">
                          <a:solidFill>
                            <a:srgbClr val="17324D"/>
                          </a:solidFill>
                          <a:latin typeface="Arial"/>
                          <a:ea typeface="Arial"/>
                          <a:cs typeface="Arial"/>
                        </a:rPr>
                        <a:t>Test</a:t>
                      </a:r>
                    </a:p>
                  </a:txBody>
                  <a:tcPr marL="91440" marR="91440" marT="45720" marB="45720">
                    <a:solidFill>
                      <a:srgbClr val="FFFFFF"/>
                    </a:solidFill>
                  </a:tcPr>
                </a:tc>
                <a:tc>
                  <a:txBody>
                    <a:bodyPr/>
                    <a:lstStyle/>
                    <a:p>
                      <a:r>
                        <a:rPr sz="1950" b="0">
                          <a:solidFill>
                            <a:srgbClr val="17324D"/>
                          </a:solidFill>
                          <a:latin typeface="Arial"/>
                          <a:ea typeface="Arial"/>
                          <a:cs typeface="Arial"/>
                        </a:rPr>
                        <a:t>7.172</a:t>
                      </a:r>
                    </a:p>
                  </a:txBody>
                  <a:tcPr marL="91440" marR="91440" marT="45720" marB="45720">
                    <a:solidFill>
                      <a:srgbClr val="FFFFFF"/>
                    </a:solidFill>
                  </a:tcPr>
                </a:tc>
                <a:tc>
                  <a:txBody>
                    <a:bodyPr/>
                    <a:lstStyle/>
                    <a:p>
                      <a:r>
                        <a:rPr sz="1950" b="0">
                          <a:solidFill>
                            <a:srgbClr val="17324D"/>
                          </a:solidFill>
                          <a:latin typeface="Arial"/>
                          <a:ea typeface="Arial"/>
                          <a:cs typeface="Arial"/>
                        </a:rPr>
                        <a:t>Evaluar el modelo elegido</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46ADA29-4B06-4A90-940E-990DB6F74C9F}"/>
              </a:ext>
            </a:extLst>
          </p:cNvPr>
          <p:cNvSpPr>
            <a:spLocks xmlns:a="http://schemas.openxmlformats.org/drawingml/2006/main" noGrp="1"/>
          </p:cNvSpPr>
          <p:nvPr/>
        </p:nvSpPr>
        <p:spPr>
          <a:xfrm xmlns:a="http://schemas.openxmlformats.org/drawingml/2006/main">
            <a:off x="609600" y="60007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E5C68"/>
                </a:solidFill>
                <a:latin typeface="Arial"/>
                <a:ea typeface="Arial"/>
                <a:cs typeface="Arial"/>
              </a:defRPr>
            </a:pPr>
            <a:r>
              <a:rPr sz="1875" b="0">
                <a:solidFill>
                  <a:srgbClr val="4E5C68"/>
                </a:solidFill>
                <a:latin typeface="Arial"/>
                <a:ea typeface="Arial"/>
                <a:cs typeface="Arial"/>
              </a:rPr>
              <a:t>La validación sale del entrenamiento oficial. El test queda separado.</a:t>
            </a:r>
          </a:p>
        </p:txBody>
      </p:sp>
    </p:spTree>
    <p:extLst>
      <p:ext uri="{BB962C8B-B14F-4D97-AF65-F5344CB8AC3E}">
        <p14:creationId xmlns:p14="http://schemas.microsoft.com/office/powerpoint/2010/main" val="5458061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C94B42-AAD1-4AA5-9B6B-F7F466EF1747}"/>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Arquitectura de una red Fully Connected</a:t>
            </a:r>
          </a:p>
        </p:txBody>
      </p:sp>
      <p:sp>
        <p:nvSpPr>
          <p:cNvPr id="2" name="">
            <a:extLst xmlns:a="http://schemas.openxmlformats.org/drawingml/2006/main">
              <a:ext uri="{FF2B5EF4-FFF2-40B4-BE49-F238E27FC236}">
                <a16:creationId xmlns:a16="http://schemas.microsoft.com/office/drawing/2014/main" id="{E1151F06-5CD9-46AE-B50E-5DA022DC27FB}"/>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4 / 10</a:t>
            </a:r>
          </a:p>
        </p:txBody>
      </p:sp>
      <p:graphicFrame>
        <p:nvGraphicFramePr>
          <p:cNvPr id="10" name=""/>
          <p:cNvGraphicFramePr/>
          <p:nvPr/>
        </p:nvGraphicFramePr>
        <p:xfrm>
          <a:off xmlns:a="http://schemas.openxmlformats.org/drawingml/2006/main" x="609600" y="1666875"/>
          <a:ext xmlns:a="http://schemas.openxmlformats.org/drawingml/2006/main" cx="10972800" cy="2238375"/>
        </p:xfrm>
        <a:graphic xmlns:a="http://schemas.openxmlformats.org/drawingml/2006/main">
          <a:graphicData uri="http://schemas.openxmlformats.org/drawingml/2006/table">
            <a:tbl>
              <a:tblPr/>
              <a:tblGrid>
                <a:gridCol w="3000375"/>
                <a:gridCol w="4762500"/>
                <a:gridCol w="3209925"/>
              </a:tblGrid>
              <a:tr h="746125">
                <a:tc>
                  <a:txBody>
                    <a:bodyPr/>
                    <a:lstStyle/>
                    <a:p>
                      <a:r>
                        <a:rPr sz="1950" b="1">
                          <a:solidFill>
                            <a:srgbClr val="FFFFFF"/>
                          </a:solidFill>
                          <a:latin typeface="Arial"/>
                          <a:ea typeface="Arial"/>
                          <a:cs typeface="Arial"/>
                        </a:rPr>
                        <a:t>Entrada</a:t>
                      </a:r>
                    </a:p>
                  </a:txBody>
                  <a:tcPr marL="91440" marR="91440" marT="45720" marB="45720">
                    <a:solidFill>
                      <a:srgbClr val="17324D"/>
                    </a:solidFill>
                  </a:tcPr>
                </a:tc>
                <a:tc>
                  <a:txBody>
                    <a:bodyPr/>
                    <a:lstStyle/>
                    <a:p>
                      <a:r>
                        <a:rPr sz="1950" b="1">
                          <a:solidFill>
                            <a:srgbClr val="FFFFFF"/>
                          </a:solidFill>
                          <a:latin typeface="Arial"/>
                          <a:ea typeface="Arial"/>
                          <a:cs typeface="Arial"/>
                        </a:rPr>
                        <a:t>Capas ocultas</a:t>
                      </a:r>
                    </a:p>
                  </a:txBody>
                  <a:tcPr marL="91440" marR="91440" marT="45720" marB="45720">
                    <a:solidFill>
                      <a:srgbClr val="17324D"/>
                    </a:solidFill>
                  </a:tcPr>
                </a:tc>
                <a:tc>
                  <a:txBody>
                    <a:bodyPr/>
                    <a:lstStyle/>
                    <a:p>
                      <a:r>
                        <a:rPr sz="1950" b="1">
                          <a:solidFill>
                            <a:srgbClr val="FFFFFF"/>
                          </a:solidFill>
                          <a:latin typeface="Arial"/>
                          <a:ea typeface="Arial"/>
                          <a:cs typeface="Arial"/>
                        </a:rPr>
                        <a:t>Salida</a:t>
                      </a:r>
                    </a:p>
                  </a:txBody>
                  <a:tcPr marL="91440" marR="91440" marT="45720" marB="45720">
                    <a:solidFill>
                      <a:srgbClr val="17324D"/>
                    </a:solidFill>
                  </a:tcPr>
                </a:tc>
              </a:tr>
              <a:tr h="746125">
                <a:tc>
                  <a:txBody>
                    <a:bodyPr/>
                    <a:lstStyle/>
                    <a:p>
                      <a:r>
                        <a:rPr sz="1950" b="0">
                          <a:solidFill>
                            <a:srgbClr val="17324D"/>
                          </a:solidFill>
                          <a:latin typeface="Arial"/>
                          <a:ea typeface="Arial"/>
                          <a:cs typeface="Arial"/>
                        </a:rPr>
                        <a:t>784 valores</a:t>
                      </a:r>
                    </a:p>
                  </a:txBody>
                  <a:tcPr marL="91440" marR="91440" marT="45720" marB="45720">
                    <a:solidFill>
                      <a:srgbClr val="FFFFFF"/>
                    </a:solidFill>
                  </a:tcPr>
                </a:tc>
                <a:tc>
                  <a:txBody>
                    <a:bodyPr/>
                    <a:lstStyle/>
                    <a:p>
                      <a:r>
                        <a:rPr sz="1950" b="0">
                          <a:solidFill>
                            <a:srgbClr val="17324D"/>
                          </a:solidFill>
                          <a:latin typeface="Arial"/>
                          <a:ea typeface="Arial"/>
                          <a:cs typeface="Arial"/>
                        </a:rPr>
                        <a:t>Dense con ReLU</a:t>
                      </a:r>
                    </a:p>
                  </a:txBody>
                  <a:tcPr marL="91440" marR="91440" marT="45720" marB="45720">
                    <a:solidFill>
                      <a:srgbClr val="FFFFFF"/>
                    </a:solidFill>
                  </a:tcPr>
                </a:tc>
                <a:tc>
                  <a:txBody>
                    <a:bodyPr/>
                    <a:lstStyle/>
                    <a:p>
                      <a:r>
                        <a:rPr sz="1950" b="0">
                          <a:solidFill>
                            <a:srgbClr val="17324D"/>
                          </a:solidFill>
                          <a:latin typeface="Arial"/>
                          <a:ea typeface="Arial"/>
                          <a:cs typeface="Arial"/>
                        </a:rPr>
                        <a:t>24 neuronas</a:t>
                      </a:r>
                    </a:p>
                  </a:txBody>
                  <a:tcPr marL="91440" marR="91440" marT="45720" marB="45720">
                    <a:solidFill>
                      <a:srgbClr val="FFFFFF"/>
                    </a:solidFill>
                  </a:tcPr>
                </a:tc>
              </a:tr>
              <a:tr h="746125">
                <a:tc>
                  <a:txBody>
                    <a:bodyPr/>
                    <a:lstStyle/>
                    <a:p>
                      <a:r>
                        <a:rPr sz="1950" b="0">
                          <a:solidFill>
                            <a:srgbClr val="17324D"/>
                          </a:solidFill>
                          <a:latin typeface="Arial"/>
                          <a:ea typeface="Arial"/>
                          <a:cs typeface="Arial"/>
                        </a:rPr>
                        <a:t>Píxeles normalizados</a:t>
                      </a:r>
                    </a:p>
                  </a:txBody>
                  <a:tcPr marL="91440" marR="91440" marT="45720" marB="45720">
                    <a:solidFill>
                      <a:srgbClr val="EAF2F5"/>
                    </a:solidFill>
                  </a:tcPr>
                </a:tc>
                <a:tc>
                  <a:txBody>
                    <a:bodyPr/>
                    <a:lstStyle/>
                    <a:p>
                      <a:r>
                        <a:rPr sz="1950" b="0">
                          <a:solidFill>
                            <a:srgbClr val="17324D"/>
                          </a:solidFill>
                          <a:latin typeface="Arial"/>
                          <a:ea typeface="Arial"/>
                          <a:cs typeface="Arial"/>
                        </a:rPr>
                        <a:t>Suma ponderada + sesgo</a:t>
                      </a:r>
                    </a:p>
                  </a:txBody>
                  <a:tcPr marL="91440" marR="91440" marT="45720" marB="45720">
                    <a:solidFill>
                      <a:srgbClr val="EAF2F5"/>
                    </a:solidFill>
                  </a:tcPr>
                </a:tc>
                <a:tc>
                  <a:txBody>
                    <a:bodyPr/>
                    <a:lstStyle/>
                    <a:p>
                      <a:r>
                        <a:rPr sz="1950" b="0">
                          <a:solidFill>
                            <a:srgbClr val="17324D"/>
                          </a:solidFill>
                          <a:latin typeface="Arial"/>
                          <a:ea typeface="Arial"/>
                          <a:cs typeface="Arial"/>
                        </a:rPr>
                        <a:t>Softmax</a:t>
                      </a:r>
                    </a:p>
                  </a:txBody>
                  <a:tcPr marL="91440" marR="91440" marT="45720" marB="45720">
                    <a:solidFill>
                      <a:srgbClr val="EAF2F5"/>
                    </a:solidFill>
                  </a:tcPr>
                </a:tc>
              </a:tr>
            </a:tbl>
          </a:graphicData>
        </a:graphic>
      </p:graphicFrame>
      <p:sp>
        <p:nvSpPr>
          <p:cNvPr id="4" name="">
            <a:extLst xmlns:a="http://schemas.openxmlformats.org/drawingml/2006/main">
              <a:ext uri="{FF2B5EF4-FFF2-40B4-BE49-F238E27FC236}">
                <a16:creationId xmlns:a16="http://schemas.microsoft.com/office/drawing/2014/main" id="{D7D8FFA2-4E97-4A7D-B8F9-86D74F3B5688}"/>
              </a:ext>
            </a:extLst>
          </p:cNvPr>
          <p:cNvSpPr>
            <a:spLocks xmlns:a="http://schemas.openxmlformats.org/drawingml/2006/main" noGrp="1"/>
          </p:cNvSpPr>
          <p:nvPr/>
        </p:nvSpPr>
        <p:spPr>
          <a:xfrm xmlns:a="http://schemas.openxmlformats.org/drawingml/2006/main">
            <a:off x="609600" y="42767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ReLU permite aprender relaciones no lineales</a:t>
            </a:r>
          </a:p>
        </p:txBody>
      </p:sp>
      <p:sp>
        <p:nvSpPr>
          <p:cNvPr id="5" name="">
            <a:extLst xmlns:a="http://schemas.openxmlformats.org/drawingml/2006/main">
              <a:ext uri="{FF2B5EF4-FFF2-40B4-BE49-F238E27FC236}">
                <a16:creationId xmlns:a16="http://schemas.microsoft.com/office/drawing/2014/main" id="{5BE09EF9-4EE1-4D73-BC53-BE8C9A602A5D}"/>
              </a:ext>
            </a:extLst>
          </p:cNvPr>
          <p:cNvSpPr>
            <a:spLocks xmlns:a="http://schemas.openxmlformats.org/drawingml/2006/main" noGrp="1"/>
          </p:cNvSpPr>
          <p:nvPr/>
        </p:nvSpPr>
        <p:spPr>
          <a:xfrm xmlns:a="http://schemas.openxmlformats.org/drawingml/2006/main">
            <a:off x="609600" y="473392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Cada capa combina las salidas de la anterior.</a:t>
            </a:r>
          </a:p>
        </p:txBody>
      </p:sp>
      <p:sp>
        <p:nvSpPr>
          <p:cNvPr id="6" name="">
            <a:extLst xmlns:a="http://schemas.openxmlformats.org/drawingml/2006/main">
              <a:ext uri="{FF2B5EF4-FFF2-40B4-BE49-F238E27FC236}">
                <a16:creationId xmlns:a16="http://schemas.microsoft.com/office/drawing/2014/main" id="{7C1433E5-E51B-436D-9580-B99B53A09193}"/>
              </a:ext>
            </a:extLst>
          </p:cNvPr>
          <p:cNvSpPr>
            <a:spLocks xmlns:a="http://schemas.openxmlformats.org/drawingml/2006/main" noGrp="1"/>
          </p:cNvSpPr>
          <p:nvPr/>
        </p:nvSpPr>
        <p:spPr>
          <a:xfrm xmlns:a="http://schemas.openxmlformats.org/drawingml/2006/main">
            <a:off x="609600" y="56292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Softmax entrega una distribución sobre las 24 letras.</a:t>
            </a:r>
          </a:p>
        </p:txBody>
      </p:sp>
      <p:sp>
        <p:nvSpPr>
          <p:cNvPr id="7" name="">
            <a:extLst xmlns:a="http://schemas.openxmlformats.org/drawingml/2006/main">
              <a:ext uri="{FF2B5EF4-FFF2-40B4-BE49-F238E27FC236}">
                <a16:creationId xmlns:a16="http://schemas.microsoft.com/office/drawing/2014/main" id="{E6D63C0B-D5D9-4BDE-BE7C-0986878D87C3}"/>
              </a:ext>
            </a:extLst>
          </p:cNvPr>
          <p:cNvSpPr>
            <a:spLocks xmlns:a="http://schemas.openxmlformats.org/drawingml/2006/main" noGrp="1"/>
          </p:cNvSpPr>
          <p:nvPr/>
        </p:nvSpPr>
        <p:spPr>
          <a:xfrm xmlns:a="http://schemas.openxmlformats.org/drawingml/2006/main">
            <a:off x="609600" y="6076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E5C68"/>
                </a:solidFill>
                <a:latin typeface="Arial"/>
                <a:ea typeface="Arial"/>
                <a:cs typeface="Arial"/>
              </a:defRPr>
            </a:pPr>
            <a:r>
              <a:rPr sz="1725" b="0">
                <a:solidFill>
                  <a:srgbClr val="4E5C68"/>
                </a:solidFill>
                <a:latin typeface="Arial"/>
                <a:ea typeface="Arial"/>
                <a:cs typeface="Arial"/>
              </a:rPr>
              <a:t>Las configuraciones cambian el número de capas y neuronas ocultas.</a:t>
            </a:r>
          </a:p>
        </p:txBody>
      </p:sp>
    </p:spTree>
    <p:extLst>
      <p:ext uri="{BB962C8B-B14F-4D97-AF65-F5344CB8AC3E}">
        <p14:creationId xmlns:p14="http://schemas.microsoft.com/office/powerpoint/2010/main" val="10116903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547EE6-2C66-473B-BF47-EF328249D34B}"/>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Protocolo de entrenamiento</a:t>
            </a:r>
          </a:p>
        </p:txBody>
      </p:sp>
      <p:sp>
        <p:nvSpPr>
          <p:cNvPr id="2" name="">
            <a:extLst xmlns:a="http://schemas.openxmlformats.org/drawingml/2006/main">
              <a:ext uri="{FF2B5EF4-FFF2-40B4-BE49-F238E27FC236}">
                <a16:creationId xmlns:a16="http://schemas.microsoft.com/office/drawing/2014/main" id="{F8855A28-C257-4BA9-9C51-7E7A1B5B7C08}"/>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5 / 10</a:t>
            </a:r>
          </a:p>
        </p:txBody>
      </p:sp>
      <p:graphicFrame>
        <p:nvGraphicFramePr>
          <p:cNvPr id="8" name=""/>
          <p:cNvGraphicFramePr/>
          <p:nvPr/>
        </p:nvGraphicFramePr>
        <p:xfrm>
          <a:off xmlns:a="http://schemas.openxmlformats.org/drawingml/2006/main" x="609600" y="1619250"/>
          <a:ext xmlns:a="http://schemas.openxmlformats.org/drawingml/2006/main" cx="10972800" cy="3238500"/>
        </p:xfrm>
        <a:graphic xmlns:a="http://schemas.openxmlformats.org/drawingml/2006/main">
          <a:graphicData uri="http://schemas.openxmlformats.org/drawingml/2006/table">
            <a:tbl>
              <a:tblPr/>
              <a:tblGrid>
                <a:gridCol w="3333750"/>
                <a:gridCol w="7639050"/>
              </a:tblGrid>
              <a:tr h="647700">
                <a:tc>
                  <a:txBody>
                    <a:bodyPr/>
                    <a:lstStyle/>
                    <a:p>
                      <a:r>
                        <a:rPr sz="1950" b="1">
                          <a:solidFill>
                            <a:srgbClr val="FFFFFF"/>
                          </a:solidFill>
                          <a:latin typeface="Arial"/>
                          <a:ea typeface="Arial"/>
                          <a:cs typeface="Arial"/>
                        </a:rPr>
                        <a:t>Decisión</a:t>
                      </a:r>
                    </a:p>
                  </a:txBody>
                  <a:tcPr marL="91440" marR="91440" marT="45720" marB="45720">
                    <a:solidFill>
                      <a:srgbClr val="17324D"/>
                    </a:solidFill>
                  </a:tcPr>
                </a:tc>
                <a:tc>
                  <a:txBody>
                    <a:bodyPr/>
                    <a:lstStyle/>
                    <a:p>
                      <a:r>
                        <a:rPr sz="1950" b="1">
                          <a:solidFill>
                            <a:srgbClr val="FFFFFF"/>
                          </a:solidFill>
                          <a:latin typeface="Arial"/>
                          <a:ea typeface="Arial"/>
                          <a:cs typeface="Arial"/>
                        </a:rPr>
                        <a:t>Configuración</a:t>
                      </a:r>
                    </a:p>
                  </a:txBody>
                  <a:tcPr marL="91440" marR="91440" marT="45720" marB="45720">
                    <a:solidFill>
                      <a:srgbClr val="17324D"/>
                    </a:solidFill>
                  </a:tcPr>
                </a:tc>
              </a:tr>
              <a:tr h="647700">
                <a:tc>
                  <a:txBody>
                    <a:bodyPr/>
                    <a:lstStyle/>
                    <a:p>
                      <a:r>
                        <a:rPr sz="1950" b="0">
                          <a:solidFill>
                            <a:srgbClr val="17324D"/>
                          </a:solidFill>
                          <a:latin typeface="Arial"/>
                          <a:ea typeface="Arial"/>
                          <a:cs typeface="Arial"/>
                        </a:rPr>
                        <a:t>Pérdida</a:t>
                      </a:r>
                    </a:p>
                  </a:txBody>
                  <a:tcPr marL="91440" marR="91440" marT="45720" marB="45720">
                    <a:solidFill>
                      <a:srgbClr val="FFFFFF"/>
                    </a:solidFill>
                  </a:tcPr>
                </a:tc>
                <a:tc>
                  <a:txBody>
                    <a:bodyPr/>
                    <a:lstStyle/>
                    <a:p>
                      <a:r>
                        <a:rPr sz="1950" b="0">
                          <a:solidFill>
                            <a:srgbClr val="17324D"/>
                          </a:solidFill>
                          <a:latin typeface="Arial"/>
                          <a:ea typeface="Arial"/>
                          <a:cs typeface="Arial"/>
                        </a:rPr>
                        <a:t>Categorical crossentropy</a:t>
                      </a:r>
                    </a:p>
                  </a:txBody>
                  <a:tcPr marL="91440" marR="91440" marT="45720" marB="45720">
                    <a:solidFill>
                      <a:srgbClr val="FFFFFF"/>
                    </a:solidFill>
                  </a:tcPr>
                </a:tc>
              </a:tr>
              <a:tr h="647700">
                <a:tc>
                  <a:txBody>
                    <a:bodyPr/>
                    <a:lstStyle/>
                    <a:p>
                      <a:r>
                        <a:rPr sz="1950" b="0">
                          <a:solidFill>
                            <a:srgbClr val="17324D"/>
                          </a:solidFill>
                          <a:latin typeface="Arial"/>
                          <a:ea typeface="Arial"/>
                          <a:cs typeface="Arial"/>
                        </a:rPr>
                        <a:t>Optimizador</a:t>
                      </a:r>
                    </a:p>
                  </a:txBody>
                  <a:tcPr marL="91440" marR="91440" marT="45720" marB="45720">
                    <a:solidFill>
                      <a:srgbClr val="EAF2F5"/>
                    </a:solidFill>
                  </a:tcPr>
                </a:tc>
                <a:tc>
                  <a:txBody>
                    <a:bodyPr/>
                    <a:lstStyle/>
                    <a:p>
                      <a:r>
                        <a:rPr sz="1950" b="0">
                          <a:solidFill>
                            <a:srgbClr val="17324D"/>
                          </a:solidFill>
                          <a:latin typeface="Arial"/>
                          <a:ea typeface="Arial"/>
                          <a:cs typeface="Arial"/>
                        </a:rPr>
                        <a:t>Adam, learning rate 0,001</a:t>
                      </a:r>
                    </a:p>
                  </a:txBody>
                  <a:tcPr marL="91440" marR="91440" marT="45720" marB="45720">
                    <a:solidFill>
                      <a:srgbClr val="EAF2F5"/>
                    </a:solidFill>
                  </a:tcPr>
                </a:tc>
              </a:tr>
              <a:tr h="647700">
                <a:tc>
                  <a:txBody>
                    <a:bodyPr/>
                    <a:lstStyle/>
                    <a:p>
                      <a:r>
                        <a:rPr sz="1950" b="0">
                          <a:solidFill>
                            <a:srgbClr val="17324D"/>
                          </a:solidFill>
                          <a:latin typeface="Arial"/>
                          <a:ea typeface="Arial"/>
                          <a:cs typeface="Arial"/>
                        </a:rPr>
                        <a:t>Entrenamiento</a:t>
                      </a:r>
                    </a:p>
                  </a:txBody>
                  <a:tcPr marL="91440" marR="91440" marT="45720" marB="45720">
                    <a:solidFill>
                      <a:srgbClr val="FFFFFF"/>
                    </a:solidFill>
                  </a:tcPr>
                </a:tc>
                <a:tc>
                  <a:txBody>
                    <a:bodyPr/>
                    <a:lstStyle/>
                    <a:p>
                      <a:r>
                        <a:rPr sz="1950" b="0">
                          <a:solidFill>
                            <a:srgbClr val="17324D"/>
                          </a:solidFill>
                          <a:latin typeface="Arial"/>
                          <a:ea typeface="Arial"/>
                          <a:cs typeface="Arial"/>
                        </a:rPr>
                        <a:t>20 épocas, batch de 128</a:t>
                      </a:r>
                    </a:p>
                  </a:txBody>
                  <a:tcPr marL="91440" marR="91440" marT="45720" marB="45720">
                    <a:solidFill>
                      <a:srgbClr val="FFFFFF"/>
                    </a:solidFill>
                  </a:tcPr>
                </a:tc>
              </a:tr>
              <a:tr h="647700">
                <a:tc>
                  <a:txBody>
                    <a:bodyPr/>
                    <a:lstStyle/>
                    <a:p>
                      <a:r>
                        <a:rPr sz="1950" b="0">
                          <a:solidFill>
                            <a:srgbClr val="17324D"/>
                          </a:solidFill>
                          <a:latin typeface="Arial"/>
                          <a:ea typeface="Arial"/>
                          <a:cs typeface="Arial"/>
                        </a:rPr>
                        <a:t>Reproducibilidad</a:t>
                      </a:r>
                    </a:p>
                  </a:txBody>
                  <a:tcPr marL="91440" marR="91440" marT="45720" marB="45720">
                    <a:solidFill>
                      <a:srgbClr val="EAF2F5"/>
                    </a:solidFill>
                  </a:tcPr>
                </a:tc>
                <a:tc>
                  <a:txBody>
                    <a:bodyPr/>
                    <a:lstStyle/>
                    <a:p>
                      <a:r>
                        <a:rPr sz="1950" b="0">
                          <a:solidFill>
                            <a:srgbClr val="17324D"/>
                          </a:solidFill>
                          <a:latin typeface="Arial"/>
                          <a:ea typeface="Arial"/>
                          <a:cs typeface="Arial"/>
                        </a:rPr>
                        <a:t>Semilla 42, mismas particiones</a:t>
                      </a:r>
                    </a:p>
                  </a:txBody>
                  <a:tcPr marL="91440" marR="91440" marT="45720" marB="45720">
                    <a:solidFill>
                      <a:srgbClr val="EAF2F5"/>
                    </a:solidFill>
                  </a:tcPr>
                </a:tc>
              </a:tr>
            </a:tbl>
          </a:graphicData>
        </a:graphic>
      </p:graphicFrame>
      <p:sp>
        <p:nvSpPr>
          <p:cNvPr id="4" name="">
            <a:extLst xmlns:a="http://schemas.openxmlformats.org/drawingml/2006/main">
              <a:ext uri="{FF2B5EF4-FFF2-40B4-BE49-F238E27FC236}">
                <a16:creationId xmlns:a16="http://schemas.microsoft.com/office/drawing/2014/main" id="{620AFE42-14B9-4B73-AC94-F8A5EC592DA3}"/>
              </a:ext>
            </a:extLst>
          </p:cNvPr>
          <p:cNvSpPr>
            <a:spLocks xmlns:a="http://schemas.openxmlformats.org/drawingml/2006/main" noGrp="1"/>
          </p:cNvSpPr>
          <p:nvPr/>
        </p:nvSpPr>
        <p:spPr>
          <a:xfrm xmlns:a="http://schemas.openxmlformats.org/drawingml/2006/main">
            <a:off x="609600" y="52197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La retropropagación calcula gradientes.</a:t>
            </a:r>
          </a:p>
        </p:txBody>
      </p:sp>
      <p:sp>
        <p:nvSpPr>
          <p:cNvPr id="5" name="">
            <a:extLst xmlns:a="http://schemas.openxmlformats.org/drawingml/2006/main">
              <a:ext uri="{FF2B5EF4-FFF2-40B4-BE49-F238E27FC236}">
                <a16:creationId xmlns:a16="http://schemas.microsoft.com/office/drawing/2014/main" id="{BE2F8A6E-D2FC-4064-A08B-F7085D6AADD8}"/>
              </a:ext>
            </a:extLst>
          </p:cNvPr>
          <p:cNvSpPr>
            <a:spLocks xmlns:a="http://schemas.openxmlformats.org/drawingml/2006/main" noGrp="1"/>
          </p:cNvSpPr>
          <p:nvPr/>
        </p:nvSpPr>
        <p:spPr>
          <a:xfrm xmlns:a="http://schemas.openxmlformats.org/drawingml/2006/main">
            <a:off x="609600" y="57054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Adam usa esos gradientes para actualizar los pesos.</a:t>
            </a:r>
          </a:p>
        </p:txBody>
      </p:sp>
    </p:spTree>
    <p:extLst>
      <p:ext uri="{BB962C8B-B14F-4D97-AF65-F5344CB8AC3E}">
        <p14:creationId xmlns:p14="http://schemas.microsoft.com/office/powerpoint/2010/main" val="17469419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579D2E-BBB9-455C-B839-3E0BFCA754D6}"/>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Comparación de tres tamaños de red</a:t>
            </a:r>
          </a:p>
        </p:txBody>
      </p:sp>
      <p:sp>
        <p:nvSpPr>
          <p:cNvPr id="2" name="">
            <a:extLst xmlns:a="http://schemas.openxmlformats.org/drawingml/2006/main">
              <a:ext uri="{FF2B5EF4-FFF2-40B4-BE49-F238E27FC236}">
                <a16:creationId xmlns:a16="http://schemas.microsoft.com/office/drawing/2014/main" id="{40AC8728-8903-4946-91C6-9A8F18F02E9B}"/>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6 / 10</a:t>
            </a:r>
          </a:p>
        </p:txBody>
      </p:sp>
      <p:graphicFrame>
        <p:nvGraphicFramePr>
          <p:cNvPr id="8" name=""/>
          <p:cNvGraphicFramePr/>
          <p:nvPr/>
        </p:nvGraphicFramePr>
        <p:xfrm>
          <a:off xmlns:a="http://schemas.openxmlformats.org/drawingml/2006/main" x="609600" y="1666875"/>
          <a:ext xmlns:a="http://schemas.openxmlformats.org/drawingml/2006/main" cx="10972800" cy="3000375"/>
        </p:xfrm>
        <a:graphic xmlns:a="http://schemas.openxmlformats.org/drawingml/2006/main">
          <a:graphicData uri="http://schemas.openxmlformats.org/drawingml/2006/table">
            <a:tbl>
              <a:tblPr/>
              <a:tblGrid>
                <a:gridCol w="1238250"/>
                <a:gridCol w="2952750"/>
                <a:gridCol w="2019300"/>
                <a:gridCol w="2381250"/>
                <a:gridCol w="2381250"/>
              </a:tblGrid>
              <a:tr h="750094">
                <a:tc>
                  <a:txBody>
                    <a:bodyPr/>
                    <a:lstStyle/>
                    <a:p>
                      <a:r>
                        <a:rPr sz="1950" b="1">
                          <a:solidFill>
                            <a:srgbClr val="FFFFFF"/>
                          </a:solidFill>
                          <a:latin typeface="Arial"/>
                          <a:ea typeface="Arial"/>
                          <a:cs typeface="Arial"/>
                        </a:rPr>
                        <a:t>Modelo</a:t>
                      </a:r>
                    </a:p>
                  </a:txBody>
                  <a:tcPr marL="91440" marR="91440" marT="45720" marB="45720">
                    <a:solidFill>
                      <a:srgbClr val="17324D"/>
                    </a:solidFill>
                  </a:tcPr>
                </a:tc>
                <a:tc>
                  <a:txBody>
                    <a:bodyPr/>
                    <a:lstStyle/>
                    <a:p>
                      <a:r>
                        <a:rPr sz="1950" b="1">
                          <a:solidFill>
                            <a:srgbClr val="FFFFFF"/>
                          </a:solidFill>
                          <a:latin typeface="Arial"/>
                          <a:ea typeface="Arial"/>
                          <a:cs typeface="Arial"/>
                        </a:rPr>
                        <a:t>Capas ocultas</a:t>
                      </a:r>
                    </a:p>
                  </a:txBody>
                  <a:tcPr marL="91440" marR="91440" marT="45720" marB="45720">
                    <a:solidFill>
                      <a:srgbClr val="17324D"/>
                    </a:solidFill>
                  </a:tcPr>
                </a:tc>
                <a:tc>
                  <a:txBody>
                    <a:bodyPr/>
                    <a:lstStyle/>
                    <a:p>
                      <a:r>
                        <a:rPr sz="1950" b="1">
                          <a:solidFill>
                            <a:srgbClr val="FFFFFF"/>
                          </a:solidFill>
                          <a:latin typeface="Arial"/>
                          <a:ea typeface="Arial"/>
                          <a:cs typeface="Arial"/>
                        </a:rPr>
                        <a:t>Parámetros</a:t>
                      </a:r>
                    </a:p>
                  </a:txBody>
                  <a:tcPr marL="91440" marR="91440" marT="45720" marB="45720">
                    <a:solidFill>
                      <a:srgbClr val="17324D"/>
                    </a:solidFill>
                  </a:tcPr>
                </a:tc>
                <a:tc>
                  <a:txBody>
                    <a:bodyPr/>
                    <a:lstStyle/>
                    <a:p>
                      <a:r>
                        <a:rPr sz="1950" b="1">
                          <a:solidFill>
                            <a:srgbClr val="FFFFFF"/>
                          </a:solidFill>
                          <a:latin typeface="Arial"/>
                          <a:ea typeface="Arial"/>
                          <a:cs typeface="Arial"/>
                        </a:rPr>
                        <a:t>Accuracy</a:t>
                      </a:r>
                    </a:p>
                    <a:p>
                      <a:r>
                        <a:rPr sz="1950" b="1">
                          <a:solidFill>
                            <a:srgbClr val="FFFFFF"/>
                          </a:solidFill>
                          <a:latin typeface="Arial"/>
                          <a:ea typeface="Arial"/>
                          <a:cs typeface="Arial"/>
                        </a:rPr>
                        <a:t>validación</a:t>
                      </a:r>
                    </a:p>
                  </a:txBody>
                  <a:tcPr marL="91440" marR="91440" marT="45720" marB="45720">
                    <a:solidFill>
                      <a:srgbClr val="17324D"/>
                    </a:solidFill>
                  </a:tcPr>
                </a:tc>
                <a:tc>
                  <a:txBody>
                    <a:bodyPr/>
                    <a:lstStyle/>
                    <a:p>
                      <a:r>
                        <a:rPr sz="1950" b="1">
                          <a:solidFill>
                            <a:srgbClr val="FFFFFF"/>
                          </a:solidFill>
                          <a:latin typeface="Arial"/>
                          <a:ea typeface="Arial"/>
                          <a:cs typeface="Arial"/>
                        </a:rPr>
                        <a:t>F1 macro</a:t>
                      </a:r>
                    </a:p>
                    <a:p>
                      <a:r>
                        <a:rPr sz="1950" b="1">
                          <a:solidFill>
                            <a:srgbClr val="FFFFFF"/>
                          </a:solidFill>
                          <a:latin typeface="Arial"/>
                          <a:ea typeface="Arial"/>
                          <a:cs typeface="Arial"/>
                        </a:rPr>
                        <a:t>validación</a:t>
                      </a:r>
                    </a:p>
                  </a:txBody>
                  <a:tcPr marL="91440" marR="91440" marT="45720" marB="45720">
                    <a:solidFill>
                      <a:srgbClr val="17324D"/>
                    </a:solidFill>
                  </a:tcPr>
                </a:tc>
              </a:tr>
              <a:tr h="750094">
                <a:tc>
                  <a:txBody>
                    <a:bodyPr/>
                    <a:lstStyle/>
                    <a:p>
                      <a:r>
                        <a:rPr sz="1950" b="0">
                          <a:solidFill>
                            <a:srgbClr val="17324D"/>
                          </a:solidFill>
                          <a:latin typeface="Arial"/>
                          <a:ea typeface="Arial"/>
                          <a:cs typeface="Arial"/>
                        </a:rPr>
                        <a:t>A</a:t>
                      </a:r>
                    </a:p>
                  </a:txBody>
                  <a:tcPr marL="91440" marR="91440" marT="45720" marB="45720">
                    <a:solidFill>
                      <a:srgbClr val="FFFFFF"/>
                    </a:solidFill>
                  </a:tcPr>
                </a:tc>
                <a:tc>
                  <a:txBody>
                    <a:bodyPr/>
                    <a:lstStyle/>
                    <a:p>
                      <a:r>
                        <a:rPr sz="1950" b="0">
                          <a:solidFill>
                            <a:srgbClr val="17324D"/>
                          </a:solidFill>
                          <a:latin typeface="Arial"/>
                          <a:ea typeface="Arial"/>
                          <a:cs typeface="Arial"/>
                        </a:rPr>
                        <a:t>32</a:t>
                      </a:r>
                    </a:p>
                  </a:txBody>
                  <a:tcPr marL="91440" marR="91440" marT="45720" marB="45720">
                    <a:solidFill>
                      <a:srgbClr val="FFFFFF"/>
                    </a:solidFill>
                  </a:tcPr>
                </a:tc>
                <a:tc>
                  <a:txBody>
                    <a:bodyPr/>
                    <a:lstStyle/>
                    <a:p>
                      <a:r>
                        <a:rPr sz="1950" b="0">
                          <a:solidFill>
                            <a:srgbClr val="17324D"/>
                          </a:solidFill>
                          <a:latin typeface="Arial"/>
                          <a:ea typeface="Arial"/>
                          <a:cs typeface="Arial"/>
                        </a:rPr>
                        <a:t>25.912</a:t>
                      </a:r>
                    </a:p>
                  </a:txBody>
                  <a:tcPr marL="91440" marR="91440" marT="45720" marB="45720">
                    <a:solidFill>
                      <a:srgbClr val="FFFFFF"/>
                    </a:solidFill>
                  </a:tcPr>
                </a:tc>
                <a:tc>
                  <a:txBody>
                    <a:bodyPr/>
                    <a:lstStyle/>
                    <a:p>
                      <a:r>
                        <a:rPr sz="1950" b="0">
                          <a:solidFill>
                            <a:srgbClr val="17324D"/>
                          </a:solidFill>
                          <a:latin typeface="Arial"/>
                          <a:ea typeface="Arial"/>
                          <a:cs typeface="Arial"/>
                        </a:rPr>
                        <a:t>65,60%</a:t>
                      </a:r>
                    </a:p>
                  </a:txBody>
                  <a:tcPr marL="91440" marR="91440" marT="45720" marB="45720">
                    <a:solidFill>
                      <a:srgbClr val="FFFFFF"/>
                    </a:solidFill>
                  </a:tcPr>
                </a:tc>
                <a:tc>
                  <a:txBody>
                    <a:bodyPr/>
                    <a:lstStyle/>
                    <a:p>
                      <a:r>
                        <a:rPr sz="1950" b="0">
                          <a:solidFill>
                            <a:srgbClr val="17324D"/>
                          </a:solidFill>
                          <a:latin typeface="Arial"/>
                          <a:ea typeface="Arial"/>
                          <a:cs typeface="Arial"/>
                        </a:rPr>
                        <a:t>0,6556</a:t>
                      </a:r>
                    </a:p>
                  </a:txBody>
                  <a:tcPr marL="91440" marR="91440" marT="45720" marB="45720">
                    <a:solidFill>
                      <a:srgbClr val="FFFFFF"/>
                    </a:solidFill>
                  </a:tcPr>
                </a:tc>
              </a:tr>
              <a:tr h="750094">
                <a:tc>
                  <a:txBody>
                    <a:bodyPr/>
                    <a:lstStyle/>
                    <a:p>
                      <a:r>
                        <a:rPr sz="1950" b="0">
                          <a:solidFill>
                            <a:srgbClr val="17324D"/>
                          </a:solidFill>
                          <a:latin typeface="Arial"/>
                          <a:ea typeface="Arial"/>
                          <a:cs typeface="Arial"/>
                        </a:rPr>
                        <a:t>B</a:t>
                      </a:r>
                    </a:p>
                  </a:txBody>
                  <a:tcPr marL="91440" marR="91440" marT="45720" marB="45720">
                    <a:solidFill>
                      <a:srgbClr val="EAF2F5"/>
                    </a:solidFill>
                  </a:tcPr>
                </a:tc>
                <a:tc>
                  <a:txBody>
                    <a:bodyPr/>
                    <a:lstStyle/>
                    <a:p>
                      <a:r>
                        <a:rPr sz="1950" b="0">
                          <a:solidFill>
                            <a:srgbClr val="17324D"/>
                          </a:solidFill>
                          <a:latin typeface="Arial"/>
                          <a:ea typeface="Arial"/>
                          <a:cs typeface="Arial"/>
                        </a:rPr>
                        <a:t>128 / 64</a:t>
                      </a:r>
                    </a:p>
                  </a:txBody>
                  <a:tcPr marL="91440" marR="91440" marT="45720" marB="45720">
                    <a:solidFill>
                      <a:srgbClr val="EAF2F5"/>
                    </a:solidFill>
                  </a:tcPr>
                </a:tc>
                <a:tc>
                  <a:txBody>
                    <a:bodyPr/>
                    <a:lstStyle/>
                    <a:p>
                      <a:r>
                        <a:rPr sz="1950" b="0">
                          <a:solidFill>
                            <a:srgbClr val="17324D"/>
                          </a:solidFill>
                          <a:latin typeface="Arial"/>
                          <a:ea typeface="Arial"/>
                          <a:cs typeface="Arial"/>
                        </a:rPr>
                        <a:t>110.296</a:t>
                      </a:r>
                    </a:p>
                  </a:txBody>
                  <a:tcPr marL="91440" marR="91440" marT="45720" marB="45720">
                    <a:solidFill>
                      <a:srgbClr val="EAF2F5"/>
                    </a:solidFill>
                  </a:tcPr>
                </a:tc>
                <a:tc>
                  <a:txBody>
                    <a:bodyPr/>
                    <a:lstStyle/>
                    <a:p>
                      <a:r>
                        <a:rPr sz="1950" b="0">
                          <a:solidFill>
                            <a:srgbClr val="17324D"/>
                          </a:solidFill>
                          <a:latin typeface="Arial"/>
                          <a:ea typeface="Arial"/>
                          <a:cs typeface="Arial"/>
                        </a:rPr>
                        <a:t>97,80%</a:t>
                      </a:r>
                    </a:p>
                  </a:txBody>
                  <a:tcPr marL="91440" marR="91440" marT="45720" marB="45720">
                    <a:solidFill>
                      <a:srgbClr val="EAF2F5"/>
                    </a:solidFill>
                  </a:tcPr>
                </a:tc>
                <a:tc>
                  <a:txBody>
                    <a:bodyPr/>
                    <a:lstStyle/>
                    <a:p>
                      <a:r>
                        <a:rPr sz="1950" b="0">
                          <a:solidFill>
                            <a:srgbClr val="17324D"/>
                          </a:solidFill>
                          <a:latin typeface="Arial"/>
                          <a:ea typeface="Arial"/>
                          <a:cs typeface="Arial"/>
                        </a:rPr>
                        <a:t>0,9790</a:t>
                      </a:r>
                    </a:p>
                  </a:txBody>
                  <a:tcPr marL="91440" marR="91440" marT="45720" marB="45720">
                    <a:solidFill>
                      <a:srgbClr val="EAF2F5"/>
                    </a:solidFill>
                  </a:tcPr>
                </a:tc>
              </a:tr>
              <a:tr h="750094">
                <a:tc>
                  <a:txBody>
                    <a:bodyPr/>
                    <a:lstStyle/>
                    <a:p>
                      <a:r>
                        <a:rPr sz="1950" b="0">
                          <a:solidFill>
                            <a:srgbClr val="17324D"/>
                          </a:solidFill>
                          <a:latin typeface="Arial"/>
                          <a:ea typeface="Arial"/>
                          <a:cs typeface="Arial"/>
                        </a:rPr>
                        <a:t>C</a:t>
                      </a:r>
                    </a:p>
                  </a:txBody>
                  <a:tcPr marL="91440" marR="91440" marT="45720" marB="45720">
                    <a:solidFill>
                      <a:srgbClr val="FFFFFF"/>
                    </a:solidFill>
                  </a:tcPr>
                </a:tc>
                <a:tc>
                  <a:txBody>
                    <a:bodyPr/>
                    <a:lstStyle/>
                    <a:p>
                      <a:r>
                        <a:rPr sz="1950" b="0">
                          <a:solidFill>
                            <a:srgbClr val="17324D"/>
                          </a:solidFill>
                          <a:latin typeface="Arial"/>
                          <a:ea typeface="Arial"/>
                          <a:cs typeface="Arial"/>
                        </a:rPr>
                        <a:t>512 / 256 / 128</a:t>
                      </a:r>
                    </a:p>
                  </a:txBody>
                  <a:tcPr marL="91440" marR="91440" marT="45720" marB="45720">
                    <a:solidFill>
                      <a:srgbClr val="FFFFFF"/>
                    </a:solidFill>
                  </a:tcPr>
                </a:tc>
                <a:tc>
                  <a:txBody>
                    <a:bodyPr/>
                    <a:lstStyle/>
                    <a:p>
                      <a:r>
                        <a:rPr sz="1950" b="0">
                          <a:solidFill>
                            <a:srgbClr val="17324D"/>
                          </a:solidFill>
                          <a:latin typeface="Arial"/>
                          <a:ea typeface="Arial"/>
                          <a:cs typeface="Arial"/>
                        </a:rPr>
                        <a:t>569.240</a:t>
                      </a:r>
                    </a:p>
                  </a:txBody>
                  <a:tcPr marL="91440" marR="91440" marT="45720" marB="45720">
                    <a:solidFill>
                      <a:srgbClr val="FFFFFF"/>
                    </a:solidFill>
                  </a:tcPr>
                </a:tc>
                <a:tc>
                  <a:txBody>
                    <a:bodyPr/>
                    <a:lstStyle/>
                    <a:p>
                      <a:r>
                        <a:rPr sz="1950" b="0">
                          <a:solidFill>
                            <a:srgbClr val="17324D"/>
                          </a:solidFill>
                          <a:latin typeface="Arial"/>
                          <a:ea typeface="Arial"/>
                          <a:cs typeface="Arial"/>
                        </a:rPr>
                        <a:t>100,00%</a:t>
                      </a:r>
                    </a:p>
                  </a:txBody>
                  <a:tcPr marL="91440" marR="91440" marT="45720" marB="45720">
                    <a:solidFill>
                      <a:srgbClr val="FFFFFF"/>
                    </a:solidFill>
                  </a:tcPr>
                </a:tc>
                <a:tc>
                  <a:txBody>
                    <a:bodyPr/>
                    <a:lstStyle/>
                    <a:p>
                      <a:r>
                        <a:rPr sz="1950" b="0">
                          <a:solidFill>
                            <a:srgbClr val="17324D"/>
                          </a:solidFill>
                          <a:latin typeface="Arial"/>
                          <a:ea typeface="Arial"/>
                          <a:cs typeface="Arial"/>
                        </a:rPr>
                        <a:t>1,0000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C07D4E0-CE69-44B4-A7EA-6A7412DEA852}"/>
              </a:ext>
            </a:extLst>
          </p:cNvPr>
          <p:cNvSpPr>
            <a:spLocks xmlns:a="http://schemas.openxmlformats.org/drawingml/2006/main" noGrp="1"/>
          </p:cNvSpPr>
          <p:nvPr/>
        </p:nvSpPr>
        <p:spPr>
          <a:xfrm xmlns:a="http://schemas.openxmlformats.org/drawingml/2006/main">
            <a:off x="609600" y="515302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Elegimos C por su F1 macro de validación.</a:t>
            </a:r>
          </a:p>
        </p:txBody>
      </p:sp>
      <p:sp>
        <p:nvSpPr>
          <p:cNvPr id="5" name="">
            <a:extLst xmlns:a="http://schemas.openxmlformats.org/drawingml/2006/main">
              <a:ext uri="{FF2B5EF4-FFF2-40B4-BE49-F238E27FC236}">
                <a16:creationId xmlns:a16="http://schemas.microsoft.com/office/drawing/2014/main" id="{CB8AF364-6ACD-448C-94DE-AE89C1FDC11F}"/>
              </a:ext>
            </a:extLst>
          </p:cNvPr>
          <p:cNvSpPr>
            <a:spLocks xmlns:a="http://schemas.openxmlformats.org/drawingml/2006/main" noGrp="1"/>
          </p:cNvSpPr>
          <p:nvPr/>
        </p:nvSpPr>
        <p:spPr>
          <a:xfrm xmlns:a="http://schemas.openxmlformats.org/drawingml/2006/main">
            <a:off x="609600" y="58007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B usa alrededor de cinco veces menos parámetros que C.</a:t>
            </a:r>
          </a:p>
        </p:txBody>
      </p:sp>
    </p:spTree>
    <p:extLst>
      <p:ext uri="{BB962C8B-B14F-4D97-AF65-F5344CB8AC3E}">
        <p14:creationId xmlns:p14="http://schemas.microsoft.com/office/powerpoint/2010/main" val="1730047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42CC06-002D-493B-946F-65A47F14ED5D}"/>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Evolución de la validación</a:t>
            </a:r>
          </a:p>
        </p:txBody>
      </p:sp>
      <p:sp>
        <p:nvSpPr>
          <p:cNvPr id="2" name="">
            <a:extLst xmlns:a="http://schemas.openxmlformats.org/drawingml/2006/main">
              <a:ext uri="{FF2B5EF4-FFF2-40B4-BE49-F238E27FC236}">
                <a16:creationId xmlns:a16="http://schemas.microsoft.com/office/drawing/2014/main" id="{51D174C5-2870-43DB-9369-6BCE81496EDD}"/>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7 / 10</a:t>
            </a:r>
          </a:p>
        </p:txBody>
      </p:sp>
      <p:graphicFrame>
        <p:nvGraphicFramePr>
          <p:cNvPr id="9" name="Chart"/>
          <p:cNvGraphicFramePr/>
          <p:nvPr/>
        </p:nvGraphicFramePr>
        <p:xfrm>
          <a:off xmlns:a="http://schemas.openxmlformats.org/drawingml/2006/main" x="609600" y="1562100"/>
          <a:ext xmlns:a="http://schemas.openxmlformats.org/drawingml/2006/main" cx="5334000" cy="3714750"/>
        </p:xfrm>
        <a:graphic xmlns:a="http://schemas.openxmlformats.org/drawingml/2006/main">
          <a:graphicData uri="http://schemas.openxmlformats.org/drawingml/2006/chart">
            <c:chart xmlns:r="http://schemas.openxmlformats.org/officeDocument/2006/relationships" xmlns:c="http://schemas.openxmlformats.org/drawingml/2006/chart" r:id="Rf6d47a5a1a144af8"/>
          </a:graphicData>
        </a:graphic>
      </p:graphicFrame>
      <p:graphicFrame>
        <p:nvGraphicFramePr>
          <p:cNvPr id="10" name="Chart"/>
          <p:cNvGraphicFramePr/>
          <p:nvPr/>
        </p:nvGraphicFramePr>
        <p:xfrm>
          <a:off xmlns:a="http://schemas.openxmlformats.org/drawingml/2006/main" x="6229350" y="1562100"/>
          <a:ext xmlns:a="http://schemas.openxmlformats.org/drawingml/2006/main" cx="5334000" cy="3714750"/>
        </p:xfrm>
        <a:graphic xmlns:a="http://schemas.openxmlformats.org/drawingml/2006/main">
          <a:graphicData uri="http://schemas.openxmlformats.org/drawingml/2006/chart">
            <c:chart xmlns:r="http://schemas.openxmlformats.org/officeDocument/2006/relationships" xmlns:c="http://schemas.openxmlformats.org/drawingml/2006/chart" r:id="Re3b515f7786e4b41"/>
          </a:graphicData>
        </a:graphic>
      </p:graphicFrame>
      <p:sp>
        <p:nvSpPr>
          <p:cNvPr id="5" name="">
            <a:extLst xmlns:a="http://schemas.openxmlformats.org/drawingml/2006/main">
              <a:ext uri="{FF2B5EF4-FFF2-40B4-BE49-F238E27FC236}">
                <a16:creationId xmlns:a16="http://schemas.microsoft.com/office/drawing/2014/main" id="{365A4507-B1EF-4369-9FB7-3C72A9C59F09}"/>
              </a:ext>
            </a:extLst>
          </p:cNvPr>
          <p:cNvSpPr>
            <a:spLocks xmlns:a="http://schemas.openxmlformats.org/drawingml/2006/main" noGrp="1"/>
          </p:cNvSpPr>
          <p:nvPr/>
        </p:nvSpPr>
        <p:spPr>
          <a:xfrm xmlns:a="http://schemas.openxmlformats.org/drawingml/2006/main">
            <a:off x="609600" y="54959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A todavía mejora al llegar a 20 épocas.</a:t>
            </a:r>
          </a:p>
        </p:txBody>
      </p:sp>
      <p:sp>
        <p:nvSpPr>
          <p:cNvPr id="6" name="">
            <a:extLst xmlns:a="http://schemas.openxmlformats.org/drawingml/2006/main">
              <a:ext uri="{FF2B5EF4-FFF2-40B4-BE49-F238E27FC236}">
                <a16:creationId xmlns:a16="http://schemas.microsoft.com/office/drawing/2014/main" id="{D7D87848-AF34-4423-8A8F-3367F3AC72F3}"/>
              </a:ext>
            </a:extLst>
          </p:cNvPr>
          <p:cNvSpPr>
            <a:spLocks xmlns:a="http://schemas.openxmlformats.org/drawingml/2006/main" noGrp="1"/>
          </p:cNvSpPr>
          <p:nvPr/>
        </p:nvSpPr>
        <p:spPr>
          <a:xfrm xmlns:a="http://schemas.openxmlformats.org/drawingml/2006/main">
            <a:off x="609600" y="60102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24D"/>
                </a:solidFill>
                <a:latin typeface="Arial"/>
                <a:ea typeface="Arial"/>
                <a:cs typeface="Arial"/>
              </a:defRPr>
            </a:pPr>
            <a:r>
              <a:rPr sz="1875" b="0">
                <a:solidFill>
                  <a:srgbClr val="17324D"/>
                </a:solidFill>
                <a:latin typeface="Arial"/>
                <a:ea typeface="Arial"/>
                <a:cs typeface="Arial"/>
              </a:rPr>
              <a:t>Las curvas favorecen a B y C. El test aporta una evaluación independiente.</a:t>
            </a:r>
          </a:p>
        </p:txBody>
      </p:sp>
    </p:spTree>
    <p:extLst>
      <p:ext uri="{BB962C8B-B14F-4D97-AF65-F5344CB8AC3E}">
        <p14:creationId xmlns:p14="http://schemas.microsoft.com/office/powerpoint/2010/main" val="14125197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248B26-1C32-47C0-A19F-6CC9E84A56B4}"/>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La validación fue optimista frente al test</a:t>
            </a:r>
          </a:p>
        </p:txBody>
      </p:sp>
      <p:sp>
        <p:nvSpPr>
          <p:cNvPr id="2" name="">
            <a:extLst xmlns:a="http://schemas.openxmlformats.org/drawingml/2006/main">
              <a:ext uri="{FF2B5EF4-FFF2-40B4-BE49-F238E27FC236}">
                <a16:creationId xmlns:a16="http://schemas.microsoft.com/office/drawing/2014/main" id="{E8B43A3F-5CF9-433F-8253-E7CD9A0D8ED2}"/>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8 / 10</a:t>
            </a:r>
          </a:p>
        </p:txBody>
      </p:sp>
      <p:graphicFrame>
        <p:nvGraphicFramePr>
          <p:cNvPr id="11" name="Chart"/>
          <p:cNvGraphicFramePr/>
          <p:nvPr/>
        </p:nvGraphicFramePr>
        <p:xfrm>
          <a:off xmlns:a="http://schemas.openxmlformats.org/drawingml/2006/main" x="609600" y="1562100"/>
          <a:ext xmlns:a="http://schemas.openxmlformats.org/drawingml/2006/main" cx="6286500" cy="4191000"/>
        </p:xfrm>
        <a:graphic xmlns:a="http://schemas.openxmlformats.org/drawingml/2006/main">
          <a:graphicData uri="http://schemas.openxmlformats.org/drawingml/2006/chart">
            <c:chart xmlns:r="http://schemas.openxmlformats.org/officeDocument/2006/relationships" xmlns:c="http://schemas.openxmlformats.org/drawingml/2006/chart" r:id="Rc55e56ab94cb455c"/>
          </a:graphicData>
        </a:graphic>
      </p:graphicFrame>
      <p:sp>
        <p:nvSpPr>
          <p:cNvPr id="4" name="">
            <a:extLst xmlns:a="http://schemas.openxmlformats.org/drawingml/2006/main">
              <a:ext uri="{FF2B5EF4-FFF2-40B4-BE49-F238E27FC236}">
                <a16:creationId xmlns:a16="http://schemas.microsoft.com/office/drawing/2014/main" id="{E00B499A-67DB-4AC3-87B8-EBE6A3EFDADB}"/>
              </a:ext>
            </a:extLst>
          </p:cNvPr>
          <p:cNvSpPr>
            <a:spLocks xmlns:a="http://schemas.openxmlformats.org/drawingml/2006/main" noGrp="1"/>
          </p:cNvSpPr>
          <p:nvPr/>
        </p:nvSpPr>
        <p:spPr>
          <a:xfrm xmlns:a="http://schemas.openxmlformats.org/drawingml/2006/main">
            <a:off x="7620000" y="1752600"/>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87F8C"/>
                </a:solidFill>
                <a:latin typeface="Arial"/>
                <a:ea typeface="Arial"/>
                <a:cs typeface="Arial"/>
              </a:defRPr>
            </a:pPr>
            <a:r>
              <a:rPr sz="4650" b="1">
                <a:solidFill>
                  <a:srgbClr val="087F8C"/>
                </a:solidFill>
                <a:latin typeface="Arial"/>
                <a:ea typeface="Arial"/>
                <a:cs typeface="Arial"/>
              </a:rPr>
              <a:t>79,71%</a:t>
            </a:r>
          </a:p>
        </p:txBody>
      </p:sp>
      <p:sp>
        <p:nvSpPr>
          <p:cNvPr id="5" name="">
            <a:extLst xmlns:a="http://schemas.openxmlformats.org/drawingml/2006/main">
              <a:ext uri="{FF2B5EF4-FFF2-40B4-BE49-F238E27FC236}">
                <a16:creationId xmlns:a16="http://schemas.microsoft.com/office/drawing/2014/main" id="{55D18808-BCD8-4B0D-95C9-B340EA6E9C88}"/>
              </a:ext>
            </a:extLst>
          </p:cNvPr>
          <p:cNvSpPr>
            <a:spLocks xmlns:a="http://schemas.openxmlformats.org/drawingml/2006/main" noGrp="1"/>
          </p:cNvSpPr>
          <p:nvPr/>
        </p:nvSpPr>
        <p:spPr>
          <a:xfrm xmlns:a="http://schemas.openxmlformats.org/drawingml/2006/main">
            <a:off x="7620000" y="2581275"/>
            <a:ext cx="381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Accuracy en test</a:t>
            </a:r>
          </a:p>
        </p:txBody>
      </p:sp>
      <p:sp>
        <p:nvSpPr>
          <p:cNvPr id="6" name="">
            <a:extLst xmlns:a="http://schemas.openxmlformats.org/drawingml/2006/main">
              <a:ext uri="{FF2B5EF4-FFF2-40B4-BE49-F238E27FC236}">
                <a16:creationId xmlns:a16="http://schemas.microsoft.com/office/drawing/2014/main" id="{54911C8B-F87E-4F68-8F0C-B5EA6D85BD34}"/>
              </a:ext>
            </a:extLst>
          </p:cNvPr>
          <p:cNvSpPr>
            <a:spLocks xmlns:a="http://schemas.openxmlformats.org/drawingml/2006/main" noGrp="1"/>
          </p:cNvSpPr>
          <p:nvPr/>
        </p:nvSpPr>
        <p:spPr>
          <a:xfrm xmlns:a="http://schemas.openxmlformats.org/drawingml/2006/main">
            <a:off x="7620000" y="3343275"/>
            <a:ext cx="381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324D"/>
                </a:solidFill>
                <a:latin typeface="Arial"/>
                <a:ea typeface="Arial"/>
                <a:cs typeface="Arial"/>
              </a:defRPr>
            </a:pPr>
            <a:r>
              <a:rPr sz="4650" b="1">
                <a:solidFill>
                  <a:srgbClr val="17324D"/>
                </a:solidFill>
                <a:latin typeface="Arial"/>
                <a:ea typeface="Arial"/>
                <a:cs typeface="Arial"/>
              </a:rPr>
              <a:t>0,7760</a:t>
            </a:r>
          </a:p>
        </p:txBody>
      </p:sp>
      <p:sp>
        <p:nvSpPr>
          <p:cNvPr id="7" name="">
            <a:extLst xmlns:a="http://schemas.openxmlformats.org/drawingml/2006/main">
              <a:ext uri="{FF2B5EF4-FFF2-40B4-BE49-F238E27FC236}">
                <a16:creationId xmlns:a16="http://schemas.microsoft.com/office/drawing/2014/main" id="{7A7B824B-CF49-4DFB-BFBC-93DEAAAB6688}"/>
              </a:ext>
            </a:extLst>
          </p:cNvPr>
          <p:cNvSpPr>
            <a:spLocks xmlns:a="http://schemas.openxmlformats.org/drawingml/2006/main" noGrp="1"/>
          </p:cNvSpPr>
          <p:nvPr/>
        </p:nvSpPr>
        <p:spPr>
          <a:xfrm xmlns:a="http://schemas.openxmlformats.org/drawingml/2006/main">
            <a:off x="7620000" y="4171950"/>
            <a:ext cx="3810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24D"/>
                </a:solidFill>
                <a:latin typeface="Arial"/>
                <a:ea typeface="Arial"/>
                <a:cs typeface="Arial"/>
              </a:defRPr>
            </a:pPr>
            <a:r>
              <a:rPr sz="2175" b="0">
                <a:solidFill>
                  <a:srgbClr val="17324D"/>
                </a:solidFill>
                <a:latin typeface="Arial"/>
                <a:ea typeface="Arial"/>
                <a:cs typeface="Arial"/>
              </a:rPr>
              <a:t>F1 macro en test</a:t>
            </a:r>
          </a:p>
        </p:txBody>
      </p:sp>
      <p:sp>
        <p:nvSpPr>
          <p:cNvPr id="8" name="">
            <a:extLst xmlns:a="http://schemas.openxmlformats.org/drawingml/2006/main">
              <a:ext uri="{FF2B5EF4-FFF2-40B4-BE49-F238E27FC236}">
                <a16:creationId xmlns:a16="http://schemas.microsoft.com/office/drawing/2014/main" id="{5A38C4E6-8495-443D-8463-5B490C7C568F}"/>
              </a:ext>
            </a:extLst>
          </p:cNvPr>
          <p:cNvSpPr>
            <a:spLocks xmlns:a="http://schemas.openxmlformats.org/drawingml/2006/main" noGrp="1"/>
          </p:cNvSpPr>
          <p:nvPr/>
        </p:nvSpPr>
        <p:spPr>
          <a:xfrm xmlns:a="http://schemas.openxmlformats.org/drawingml/2006/main">
            <a:off x="609600" y="59721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Brecha: 20,29 puntos porcentuales sobre 7.172 imágenes de test.</a:t>
            </a:r>
          </a:p>
        </p:txBody>
      </p:sp>
    </p:spTree>
    <p:extLst>
      <p:ext uri="{BB962C8B-B14F-4D97-AF65-F5344CB8AC3E}">
        <p14:creationId xmlns:p14="http://schemas.microsoft.com/office/powerpoint/2010/main" val="19324590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6FA908-5511-4B21-B87A-3C361B50D82D}"/>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Errores y diferencias entre letras</a:t>
            </a:r>
          </a:p>
        </p:txBody>
      </p:sp>
      <p:sp>
        <p:nvSpPr>
          <p:cNvPr id="2" name="">
            <a:extLst xmlns:a="http://schemas.openxmlformats.org/drawingml/2006/main">
              <a:ext uri="{FF2B5EF4-FFF2-40B4-BE49-F238E27FC236}">
                <a16:creationId xmlns:a16="http://schemas.microsoft.com/office/drawing/2014/main" id="{80D326E1-CFA8-48BB-8EF2-28965397F6D4}"/>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9 / 10</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bef9e158cf403e"/>
          <a:stretch xmlns:a="http://schemas.openxmlformats.org/drawingml/2006/main"/>
        </p:blipFill>
        <p:spPr>
          <a:xfrm xmlns:a="http://schemas.openxmlformats.org/drawingml/2006/main">
            <a:off x="473075" y="1371600"/>
            <a:ext cx="6350000" cy="47625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bf1b2395a734f08"/>
          <a:stretch xmlns:a="http://schemas.openxmlformats.org/drawingml/2006/main"/>
        </p:blipFill>
        <p:spPr>
          <a:xfrm xmlns:a="http://schemas.openxmlformats.org/drawingml/2006/main">
            <a:off x="7620000" y="1619250"/>
            <a:ext cx="3581400" cy="3581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6892F7-A7FD-4F31-8278-54131D6010B5}"/>
              </a:ext>
            </a:extLst>
          </p:cNvPr>
          <p:cNvSpPr>
            <a:spLocks xmlns:a="http://schemas.openxmlformats.org/drawingml/2006/main" noGrp="1"/>
          </p:cNvSpPr>
          <p:nvPr/>
        </p:nvSpPr>
        <p:spPr>
          <a:xfrm xmlns:a="http://schemas.openxmlformats.org/drawingml/2006/main">
            <a:off x="7315200" y="5305425"/>
            <a:ext cx="428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F1 más bajo: S 0,52, R 0,58 y T 0,59.</a:t>
            </a:r>
          </a:p>
        </p:txBody>
      </p:sp>
      <p:sp>
        <p:nvSpPr>
          <p:cNvPr id="6" name="">
            <a:extLst xmlns:a="http://schemas.openxmlformats.org/drawingml/2006/main">
              <a:ext uri="{FF2B5EF4-FFF2-40B4-BE49-F238E27FC236}">
                <a16:creationId xmlns:a16="http://schemas.microsoft.com/office/drawing/2014/main" id="{80BB78D4-9C4F-46B2-ABD1-058BC0ED505A}"/>
              </a:ext>
            </a:extLst>
          </p:cNvPr>
          <p:cNvSpPr>
            <a:spLocks xmlns:a="http://schemas.openxmlformats.org/drawingml/2006/main" noGrp="1"/>
          </p:cNvSpPr>
          <p:nvPr/>
        </p:nvSpPr>
        <p:spPr>
          <a:xfrm xmlns:a="http://schemas.openxmlformats.org/drawingml/2006/main">
            <a:off x="609600" y="6124575"/>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E5C68"/>
                </a:solidFill>
                <a:latin typeface="Arial"/>
                <a:ea typeface="Arial"/>
                <a:cs typeface="Arial"/>
              </a:defRPr>
            </a:pPr>
            <a:r>
              <a:rPr sz="1725" b="0">
                <a:solidFill>
                  <a:srgbClr val="4E5C68"/>
                </a:solidFill>
                <a:latin typeface="Arial"/>
                <a:ea typeface="Arial"/>
                <a:cs typeface="Arial"/>
              </a:rPr>
              <a:t>La postura y el fondo son posibles explicaciones que requieren comprobarse.</a:t>
            </a:r>
          </a:p>
        </p:txBody>
      </p:sp>
    </p:spTree>
    <p:extLst>
      <p:ext uri="{BB962C8B-B14F-4D97-AF65-F5344CB8AC3E}">
        <p14:creationId xmlns:p14="http://schemas.microsoft.com/office/powerpoint/2010/main" val="11972924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45DD2C-911E-4977-A6E4-2A50346E86BA}"/>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Conclusiones y siguiente experimento</a:t>
            </a:r>
          </a:p>
        </p:txBody>
      </p:sp>
      <p:sp>
        <p:nvSpPr>
          <p:cNvPr id="2" name="">
            <a:extLst xmlns:a="http://schemas.openxmlformats.org/drawingml/2006/main">
              <a:ext uri="{FF2B5EF4-FFF2-40B4-BE49-F238E27FC236}">
                <a16:creationId xmlns:a16="http://schemas.microsoft.com/office/drawing/2014/main" id="{6D1FA80D-2D74-43FE-BBE6-72E1303D1582}"/>
              </a:ext>
            </a:extLst>
          </p:cNvPr>
          <p:cNvSpPr>
            <a:spLocks xmlns:a="http://schemas.openxmlformats.org/drawingml/2006/main" noGrp="1"/>
          </p:cNvSpPr>
          <p:nvPr/>
        </p:nvSpPr>
        <p:spPr>
          <a:xfrm xmlns:a="http://schemas.openxmlformats.org/drawingml/2006/main">
            <a:off x="10763250" y="64198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5C68"/>
                </a:solidFill>
                <a:latin typeface="Arial"/>
                <a:ea typeface="Arial"/>
                <a:cs typeface="Arial"/>
              </a:defRPr>
            </a:pPr>
            <a:r>
              <a:rPr sz="1200" b="0">
                <a:solidFill>
                  <a:srgbClr val="4E5C68"/>
                </a:solidFill>
                <a:latin typeface="Arial"/>
                <a:ea typeface="Arial"/>
                <a:cs typeface="Arial"/>
              </a:rPr>
              <a:t>10 / 10</a:t>
            </a:r>
          </a:p>
        </p:txBody>
      </p:sp>
      <p:sp>
        <p:nvSpPr>
          <p:cNvPr id="3" name="">
            <a:extLst xmlns:a="http://schemas.openxmlformats.org/drawingml/2006/main">
              <a:ext uri="{FF2B5EF4-FFF2-40B4-BE49-F238E27FC236}">
                <a16:creationId xmlns:a16="http://schemas.microsoft.com/office/drawing/2014/main" id="{831E8284-43CC-4CE3-921F-CF17D67C783B}"/>
              </a:ext>
            </a:extLst>
          </p:cNvPr>
          <p:cNvSpPr>
            <a:spLocks xmlns:a="http://schemas.openxmlformats.org/drawingml/2006/main" noGrp="1"/>
          </p:cNvSpPr>
          <p:nvPr/>
        </p:nvSpPr>
        <p:spPr>
          <a:xfrm xmlns:a="http://schemas.openxmlformats.org/drawingml/2006/main">
            <a:off x="609600" y="16573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El MLP aprende a clasificar letras</a:t>
            </a:r>
          </a:p>
        </p:txBody>
      </p:sp>
      <p:sp>
        <p:nvSpPr>
          <p:cNvPr id="4" name="">
            <a:extLst xmlns:a="http://schemas.openxmlformats.org/drawingml/2006/main">
              <a:ext uri="{FF2B5EF4-FFF2-40B4-BE49-F238E27FC236}">
                <a16:creationId xmlns:a16="http://schemas.microsoft.com/office/drawing/2014/main" id="{102AE128-08DC-4097-9F5A-E7F89CEEF142}"/>
              </a:ext>
            </a:extLst>
          </p:cNvPr>
          <p:cNvSpPr>
            <a:spLocks xmlns:a="http://schemas.openxmlformats.org/drawingml/2006/main" noGrp="1"/>
          </p:cNvSpPr>
          <p:nvPr/>
        </p:nvSpPr>
        <p:spPr>
          <a:xfrm xmlns:a="http://schemas.openxmlformats.org/drawingml/2006/main">
            <a:off x="609600" y="211455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El rendimiento cambia entre clases y alcanza 79,71% de accuracy en test.</a:t>
            </a:r>
          </a:p>
        </p:txBody>
      </p:sp>
      <p:sp>
        <p:nvSpPr>
          <p:cNvPr id="5" name="">
            <a:extLst xmlns:a="http://schemas.openxmlformats.org/drawingml/2006/main">
              <a:ext uri="{FF2B5EF4-FFF2-40B4-BE49-F238E27FC236}">
                <a16:creationId xmlns:a16="http://schemas.microsoft.com/office/drawing/2014/main" id="{B85E5D36-5E26-41D7-AA7F-76D3711E5C89}"/>
              </a:ext>
            </a:extLst>
          </p:cNvPr>
          <p:cNvSpPr>
            <a:spLocks xmlns:a="http://schemas.openxmlformats.org/drawingml/2006/main" noGrp="1"/>
          </p:cNvSpPr>
          <p:nvPr/>
        </p:nvSpPr>
        <p:spPr>
          <a:xfrm xmlns:a="http://schemas.openxmlformats.org/drawingml/2006/main">
            <a:off x="609600" y="31908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La generalización tiene límites</a:t>
            </a:r>
          </a:p>
        </p:txBody>
      </p:sp>
      <p:sp>
        <p:nvSpPr>
          <p:cNvPr id="6" name="">
            <a:extLst xmlns:a="http://schemas.openxmlformats.org/drawingml/2006/main">
              <a:ext uri="{FF2B5EF4-FFF2-40B4-BE49-F238E27FC236}">
                <a16:creationId xmlns:a16="http://schemas.microsoft.com/office/drawing/2014/main" id="{29B819C5-ABE3-4FF9-A742-A3A3C775D6E3}"/>
              </a:ext>
            </a:extLst>
          </p:cNvPr>
          <p:cNvSpPr>
            <a:spLocks xmlns:a="http://schemas.openxmlformats.org/drawingml/2006/main" noGrp="1"/>
          </p:cNvSpPr>
          <p:nvPr/>
        </p:nvSpPr>
        <p:spPr>
          <a:xfrm xmlns:a="http://schemas.openxmlformats.org/drawingml/2006/main">
            <a:off x="609600" y="364807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El 100% de validación no garantiza el mismo resultado con otras imágenes.</a:t>
            </a:r>
          </a:p>
        </p:txBody>
      </p:sp>
      <p:sp>
        <p:nvSpPr>
          <p:cNvPr id="7" name="">
            <a:extLst xmlns:a="http://schemas.openxmlformats.org/drawingml/2006/main">
              <a:ext uri="{FF2B5EF4-FFF2-40B4-BE49-F238E27FC236}">
                <a16:creationId xmlns:a16="http://schemas.microsoft.com/office/drawing/2014/main" id="{85852AA0-873C-4C28-978C-F5E860A06A23}"/>
              </a:ext>
            </a:extLst>
          </p:cNvPr>
          <p:cNvSpPr>
            <a:spLocks xmlns:a="http://schemas.openxmlformats.org/drawingml/2006/main" noGrp="1"/>
          </p:cNvSpPr>
          <p:nvPr/>
        </p:nvSpPr>
        <p:spPr>
          <a:xfrm xmlns:a="http://schemas.openxmlformats.org/drawingml/2006/main">
            <a:off x="609600" y="47244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Un cambio a la vez</a:t>
            </a:r>
          </a:p>
        </p:txBody>
      </p:sp>
      <p:sp>
        <p:nvSpPr>
          <p:cNvPr id="8" name="">
            <a:extLst xmlns:a="http://schemas.openxmlformats.org/drawingml/2006/main">
              <a:ext uri="{FF2B5EF4-FFF2-40B4-BE49-F238E27FC236}">
                <a16:creationId xmlns:a16="http://schemas.microsoft.com/office/drawing/2014/main" id="{FE52244E-12D4-4A2B-B2BC-F96C0C9A0E7E}"/>
              </a:ext>
            </a:extLst>
          </p:cNvPr>
          <p:cNvSpPr>
            <a:spLocks xmlns:a="http://schemas.openxmlformats.org/drawingml/2006/main" noGrp="1"/>
          </p:cNvSpPr>
          <p:nvPr/>
        </p:nvSpPr>
        <p:spPr>
          <a:xfrm xmlns:a="http://schemas.openxmlformats.org/drawingml/2006/main">
            <a:off x="609600" y="518160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24D"/>
                </a:solidFill>
                <a:latin typeface="Arial"/>
                <a:ea typeface="Arial"/>
                <a:cs typeface="Arial"/>
              </a:defRPr>
            </a:pPr>
            <a:r>
              <a:rPr sz="2100" b="0">
                <a:solidFill>
                  <a:srgbClr val="17324D"/>
                </a:solidFill>
                <a:latin typeface="Arial"/>
                <a:ea typeface="Arial"/>
                <a:cs typeface="Arial"/>
              </a:rPr>
              <a:t>Comparar épocas o learning rate, registrar resultados y evaluar por separado.</a:t>
            </a:r>
          </a:p>
        </p:txBody>
      </p:sp>
    </p:spTree>
    <p:extLst>
      <p:ext uri="{BB962C8B-B14F-4D97-AF65-F5344CB8AC3E}">
        <p14:creationId xmlns:p14="http://schemas.microsoft.com/office/powerpoint/2010/main" val="1882523271"/>
      </p:ext>
    </p:extLst>
  </p:cSld>
</p:sld>
</file>

<file path=ppt/theme/theme1.xml><?xml version="1.0" encoding="utf-8"?>
<a:theme xmlns:a="http://schemas.openxmlformats.org/drawingml/2006/main" name="Academico">
  <a:themeElements>
    <a:clrScheme name="Academico">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Academic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2026-09-15T03:08:38.9820000Z</dcterms:created>
  <dcterms:modified xsi:type="dcterms:W3CDTF">2026-09-15T03:08:38.9830000Z</dcterms:modified>
</coreProperties>
</file>